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72" r:id="rId11"/>
    <p:sldId id="266" r:id="rId12"/>
    <p:sldId id="267" r:id="rId13"/>
    <p:sldId id="268" r:id="rId14"/>
    <p:sldId id="269" r:id="rId15"/>
    <p:sldId id="270" r:id="rId16"/>
    <p:sldId id="271" r:id="rId17"/>
  </p:sldIdLst>
  <p:sldSz cx="12192000" cy="6858000"/>
  <p:notesSz cx="6858000" cy="9144000"/>
  <p:embeddedFontLst>
    <p:embeddedFont>
      <p:font typeface="Playfair Display" panose="00000500000000000000" pitchFamily="2" charset="0"/>
      <p:regular r:id="rId19"/>
      <p:bold r:id="rId20"/>
      <p:italic r:id="rId21"/>
      <p:boldItalic r:id="rId22"/>
    </p:embeddedFont>
    <p:embeddedFont>
      <p:font typeface="Playfair Display SemiBold" panose="020B0604020202020204" charset="0"/>
      <p:regular r:id="rId23"/>
      <p:bold r:id="rId24"/>
      <p:italic r:id="rId25"/>
      <p:boldItalic r:id="rId26"/>
    </p:embeddedFont>
    <p:embeddedFont>
      <p:font typeface="Plus Jakarta Sans" panose="020B0604020202020204" charset="0"/>
      <p:regular r:id="rId27"/>
      <p:bold r:id="rId28"/>
      <p:italic r:id="rId29"/>
      <p:boldItalic r:id="rId30"/>
    </p:embeddedFont>
    <p:embeddedFont>
      <p:font typeface="Plus Jakarta Sans Medium" panose="020B0604020202020204" charset="0"/>
      <p:regular r:id="rId31"/>
      <p:bold r:id="rId32"/>
      <p:italic r:id="rId33"/>
      <p:boldItalic r:id="rId34"/>
    </p:embeddedFont>
    <p:embeddedFont>
      <p:font typeface="Plus Jakarta Sans SemiBold"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D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9E4C7E-1079-4BE2-BA88-F7222C40BF34}">
  <a:tblStyle styleId="{889E4C7E-1079-4BE2-BA88-F7222C40BF3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2"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ed3bdc5958_0_7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ed3bdc5958_0_7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ed3bdc5958_0_9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ed3bdc5958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ed3b9c59fd_0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ed3b9c59f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ed3bdc5958_16_0)">
  <p:cSld name="Generated (g3ed3bdc5958_16_0)">
    <p:spTree>
      <p:nvGrpSpPr>
        <p:cNvPr id="1"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84"/>
        <p:cNvGrpSpPr/>
        <p:nvPr/>
      </p:nvGrpSpPr>
      <p:grpSpPr>
        <a:xfrm>
          <a:off x="0" y="0"/>
          <a:ext cx="0" cy="0"/>
          <a:chOff x="0" y="0"/>
          <a:chExt cx="0" cy="0"/>
        </a:xfrm>
      </p:grpSpPr>
      <p:pic>
        <p:nvPicPr>
          <p:cNvPr id="85" name="Google Shape;85;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6" name="Google Shape;86;p14" descr="image.png"/>
          <p:cNvPicPr preferRelativeResize="0"/>
          <p:nvPr/>
        </p:nvPicPr>
        <p:blipFill rotWithShape="1">
          <a:blip r:embed="rId4">
            <a:alphaModFix/>
          </a:blip>
          <a:srcRect/>
          <a:stretch/>
        </p:blipFill>
        <p:spPr>
          <a:xfrm>
            <a:off x="1809750" y="4132808"/>
            <a:ext cx="8572500" cy="704850"/>
          </a:xfrm>
          <a:prstGeom prst="rect">
            <a:avLst/>
          </a:prstGeom>
          <a:noFill/>
          <a:ln>
            <a:noFill/>
          </a:ln>
        </p:spPr>
      </p:pic>
      <p:sp>
        <p:nvSpPr>
          <p:cNvPr id="87" name="Google Shape;87;p14"/>
          <p:cNvSpPr txBox="1"/>
          <p:nvPr/>
        </p:nvSpPr>
        <p:spPr>
          <a:xfrm>
            <a:off x="1809750" y="2020341"/>
            <a:ext cx="8572500" cy="3143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C38B2D"/>
                </a:solidFill>
                <a:latin typeface="Plus Jakarta Sans Medium"/>
                <a:ea typeface="Plus Jakarta Sans Medium"/>
                <a:cs typeface="Plus Jakarta Sans Medium"/>
                <a:sym typeface="Plus Jakarta Sans Medium"/>
              </a:rPr>
              <a:t>OXFORD FLOWERS 102 CLASSIFICATION</a:t>
            </a:r>
            <a:endParaRPr/>
          </a:p>
        </p:txBody>
      </p:sp>
      <p:sp>
        <p:nvSpPr>
          <p:cNvPr id="88" name="Google Shape;88;p14"/>
          <p:cNvSpPr txBox="1"/>
          <p:nvPr/>
        </p:nvSpPr>
        <p:spPr>
          <a:xfrm>
            <a:off x="1595437" y="2715666"/>
            <a:ext cx="9001125" cy="1226641"/>
          </a:xfrm>
          <a:prstGeom prst="rect">
            <a:avLst/>
          </a:prstGeom>
          <a:noFill/>
          <a:ln>
            <a:noFill/>
          </a:ln>
        </p:spPr>
        <p:txBody>
          <a:bodyPr spcFirstLastPara="1" wrap="square" lIns="0" tIns="0" rIns="0" bIns="0" anchor="t" anchorCtr="0">
            <a:spAutoFit/>
          </a:bodyPr>
          <a:lstStyle/>
          <a:p>
            <a:pPr marL="0" marR="0" lvl="0" indent="0" algn="ctr" rtl="0">
              <a:lnSpc>
                <a:spcPct val="115000"/>
              </a:lnSpc>
              <a:spcBef>
                <a:spcPts val="0"/>
              </a:spcBef>
              <a:spcAft>
                <a:spcPts val="0"/>
              </a:spcAft>
              <a:buNone/>
            </a:pPr>
            <a:r>
              <a:rPr lang="en-US" sz="4200" b="1" i="0" u="none" strike="noStrike" cap="none">
                <a:solidFill>
                  <a:srgbClr val="112A1D"/>
                </a:solidFill>
                <a:latin typeface="Playfair Display"/>
                <a:ea typeface="Playfair Display"/>
                <a:cs typeface="Playfair Display"/>
                <a:sym typeface="Playfair Display"/>
              </a:rPr>
              <a:t>Fine-Grained Image Recognition via Deep Transfer Learning</a:t>
            </a:r>
            <a:endParaRPr/>
          </a:p>
        </p:txBody>
      </p:sp>
      <p:sp>
        <p:nvSpPr>
          <p:cNvPr id="89" name="Google Shape;89;p14"/>
          <p:cNvSpPr txBox="1"/>
          <p:nvPr/>
        </p:nvSpPr>
        <p:spPr>
          <a:xfrm>
            <a:off x="1809750" y="4332833"/>
            <a:ext cx="8572500"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35"/>
                </a:solidFill>
                <a:latin typeface="Plus Jakarta Sans Medium"/>
                <a:ea typeface="Plus Jakarta Sans Medium"/>
                <a:cs typeface="Plus Jakarta Sans Medium"/>
                <a:sym typeface="Plus Jakarta Sans Medium"/>
              </a:rPr>
              <a:t>Presenters: </a:t>
            </a:r>
            <a:r>
              <a:rPr lang="en-US" sz="1200" b="1" i="0" u="none" strike="noStrike" cap="none">
                <a:solidFill>
                  <a:srgbClr val="112A1D"/>
                </a:solidFill>
                <a:latin typeface="Plus Jakarta Sans"/>
                <a:ea typeface="Plus Jakarta Sans"/>
                <a:cs typeface="Plus Jakarta Sans"/>
                <a:sym typeface="Plus Jakarta Sans"/>
              </a:rPr>
              <a:t>Ahmad Jallab</a:t>
            </a:r>
            <a:r>
              <a:rPr lang="en-US" sz="1200" b="0" i="0" u="none" strike="noStrike" cap="none">
                <a:solidFill>
                  <a:srgbClr val="2C3E35"/>
                </a:solidFill>
                <a:latin typeface="Plus Jakarta Sans Medium"/>
                <a:ea typeface="Plus Jakarta Sans Medium"/>
                <a:cs typeface="Plus Jakarta Sans Medium"/>
                <a:sym typeface="Plus Jakarta Sans Medium"/>
              </a:rPr>
              <a:t> &amp; </a:t>
            </a:r>
            <a:r>
              <a:rPr lang="en-US" sz="1200" b="1" i="0" u="none" strike="noStrike" cap="none">
                <a:solidFill>
                  <a:srgbClr val="112A1D"/>
                </a:solidFill>
                <a:latin typeface="Plus Jakarta Sans"/>
                <a:ea typeface="Plus Jakarta Sans"/>
                <a:cs typeface="Plus Jakarta Sans"/>
                <a:sym typeface="Plus Jakarta Sans"/>
              </a:rPr>
              <a:t>Majdi Jaser</a:t>
            </a:r>
            <a:endParaRPr/>
          </a:p>
        </p:txBody>
      </p:sp>
      <p:sp>
        <p:nvSpPr>
          <p:cNvPr id="90" name="Google Shape;90;p14"/>
          <p:cNvSpPr txBox="1"/>
          <p:nvPr/>
        </p:nvSpPr>
        <p:spPr>
          <a:xfrm>
            <a:off x="1809750" y="4609058"/>
            <a:ext cx="8572500"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35"/>
                </a:solidFill>
                <a:latin typeface="Plus Jakarta Sans Medium"/>
                <a:ea typeface="Plus Jakarta Sans Medium"/>
                <a:cs typeface="Plus Jakarta Sans Medium"/>
                <a:sym typeface="Plus Jakarta Sans Medium"/>
              </a:rPr>
              <a:t>Computer Vision Project • Spring 2026 • Submission: 4 June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2A1D"/>
        </a:solidFill>
        <a:effectLst/>
      </p:bgPr>
    </p:bg>
    <p:spTree>
      <p:nvGrpSpPr>
        <p:cNvPr id="1" name="Shape 94"/>
        <p:cNvGrpSpPr/>
        <p:nvPr/>
      </p:nvGrpSpPr>
      <p:grpSpPr>
        <a:xfrm>
          <a:off x="0" y="0"/>
          <a:ext cx="0" cy="0"/>
          <a:chOff x="0" y="0"/>
          <a:chExt cx="0" cy="0"/>
        </a:xfrm>
      </p:grpSpPr>
      <p:pic>
        <p:nvPicPr>
          <p:cNvPr id="95" name="Google Shape;9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6" name="Google Shape;96;p15"/>
          <p:cNvSpPr txBox="1"/>
          <p:nvPr/>
        </p:nvSpPr>
        <p:spPr>
          <a:xfrm>
            <a:off x="2095500" y="2609850"/>
            <a:ext cx="8001000" cy="657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FAFAF5"/>
                </a:solidFill>
                <a:latin typeface="Playfair Display"/>
                <a:ea typeface="Playfair Display"/>
                <a:cs typeface="Playfair Display"/>
                <a:sym typeface="Playfair Display"/>
              </a:rPr>
              <a:t>Project Overview</a:t>
            </a:r>
            <a:endParaRPr/>
          </a:p>
        </p:txBody>
      </p:sp>
      <p:sp>
        <p:nvSpPr>
          <p:cNvPr id="97" name="Google Shape;97;p15"/>
          <p:cNvSpPr/>
          <p:nvPr/>
        </p:nvSpPr>
        <p:spPr>
          <a:xfrm>
            <a:off x="5715000" y="3457575"/>
            <a:ext cx="762000" cy="28575"/>
          </a:xfrm>
          <a:prstGeom prst="rect">
            <a:avLst/>
          </a:prstGeom>
          <a:solidFill>
            <a:srgbClr val="C38B2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5"/>
          <p:cNvSpPr txBox="1"/>
          <p:nvPr/>
        </p:nvSpPr>
        <p:spPr>
          <a:xfrm>
            <a:off x="2286000" y="3676650"/>
            <a:ext cx="7620000" cy="571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A4BEAE"/>
                </a:solidFill>
                <a:latin typeface="Plus Jakarta Sans"/>
                <a:ea typeface="Plus Jakarta Sans"/>
                <a:cs typeface="Plus Jakarta Sans"/>
                <a:sym typeface="Plus Jakarta Sans"/>
              </a:rPr>
              <a:t>Evaluating state-of-the-art CNN pre-trained backbones under rigorous extreme low-data constraints.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102"/>
        <p:cNvGrpSpPr/>
        <p:nvPr/>
      </p:nvGrpSpPr>
      <p:grpSpPr>
        <a:xfrm>
          <a:off x="0" y="0"/>
          <a:ext cx="0" cy="0"/>
          <a:chOff x="0" y="0"/>
          <a:chExt cx="0" cy="0"/>
        </a:xfrm>
      </p:grpSpPr>
      <p:pic>
        <p:nvPicPr>
          <p:cNvPr id="103" name="Google Shape;103;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4" name="Google Shape;104;p16" descr="image.png"/>
          <p:cNvPicPr preferRelativeResize="0"/>
          <p:nvPr/>
        </p:nvPicPr>
        <p:blipFill rotWithShape="1">
          <a:blip r:embed="rId4">
            <a:alphaModFix/>
          </a:blip>
          <a:srcRect/>
          <a:stretch/>
        </p:blipFill>
        <p:spPr>
          <a:xfrm>
            <a:off x="762000" y="1476375"/>
            <a:ext cx="5143500" cy="4810125"/>
          </a:xfrm>
          <a:prstGeom prst="rect">
            <a:avLst/>
          </a:prstGeom>
          <a:noFill/>
          <a:ln>
            <a:noFill/>
          </a:ln>
        </p:spPr>
      </p:pic>
      <p:pic>
        <p:nvPicPr>
          <p:cNvPr id="105" name="Google Shape;105;p16" descr="image.png"/>
          <p:cNvPicPr preferRelativeResize="0"/>
          <p:nvPr/>
        </p:nvPicPr>
        <p:blipFill rotWithShape="1">
          <a:blip r:embed="rId5">
            <a:alphaModFix/>
          </a:blip>
          <a:srcRect/>
          <a:stretch/>
        </p:blipFill>
        <p:spPr>
          <a:xfrm>
            <a:off x="6286500" y="1476375"/>
            <a:ext cx="5143500" cy="4810125"/>
          </a:xfrm>
          <a:prstGeom prst="rect">
            <a:avLst/>
          </a:prstGeom>
          <a:noFill/>
          <a:ln>
            <a:noFill/>
          </a:ln>
        </p:spPr>
      </p:pic>
      <p:sp>
        <p:nvSpPr>
          <p:cNvPr id="106" name="Google Shape;106;p16"/>
          <p:cNvSpPr txBox="1"/>
          <p:nvPr/>
        </p:nvSpPr>
        <p:spPr>
          <a:xfrm>
            <a:off x="1104900" y="3033861"/>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12A1D"/>
                </a:solidFill>
                <a:latin typeface="Playfair Display SemiBold"/>
                <a:ea typeface="Playfair Display SemiBold"/>
                <a:cs typeface="Playfair Display SemiBold"/>
                <a:sym typeface="Playfair Display SemiBold"/>
              </a:rPr>
              <a:t>The Classification Challenge</a:t>
            </a:r>
            <a:endParaRPr/>
          </a:p>
        </p:txBody>
      </p:sp>
      <p:sp>
        <p:nvSpPr>
          <p:cNvPr id="107" name="Google Shape;107;p16"/>
          <p:cNvSpPr txBox="1"/>
          <p:nvPr/>
        </p:nvSpPr>
        <p:spPr>
          <a:xfrm>
            <a:off x="1104900" y="3510111"/>
            <a:ext cx="4457700" cy="121890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Fine-grained classification requires capturing minute botanical signatures. Subtle differences across separate species (e.g. leaf geometry, petal patterns) are highly compounded by massive variations in lighting, background clutter, and viewpoints within the same species.</a:t>
            </a:r>
            <a:endParaRPr/>
          </a:p>
        </p:txBody>
      </p:sp>
      <p:sp>
        <p:nvSpPr>
          <p:cNvPr id="108" name="Google Shape;108;p16"/>
          <p:cNvSpPr txBox="1"/>
          <p:nvPr/>
        </p:nvSpPr>
        <p:spPr>
          <a:xfrm>
            <a:off x="6629400" y="3033861"/>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12A1D"/>
                </a:solidFill>
                <a:latin typeface="Playfair Display SemiBold"/>
                <a:ea typeface="Playfair Display SemiBold"/>
                <a:cs typeface="Playfair Display SemiBold"/>
                <a:sym typeface="Playfair Display SemiBold"/>
              </a:rPr>
              <a:t>Severe Data Constraint</a:t>
            </a:r>
            <a:endParaRPr/>
          </a:p>
        </p:txBody>
      </p:sp>
      <p:sp>
        <p:nvSpPr>
          <p:cNvPr id="109" name="Google Shape;109;p16"/>
          <p:cNvSpPr txBox="1"/>
          <p:nvPr/>
        </p:nvSpPr>
        <p:spPr>
          <a:xfrm>
            <a:off x="6629400" y="3510111"/>
            <a:ext cx="4457700" cy="121890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Unlike standard benchmark vision datasets, the Oxford 102 training partition is limited to exactly </a:t>
            </a:r>
            <a:r>
              <a:rPr lang="en-US" sz="1200" b="1" i="0" u="none" strike="noStrike" cap="none">
                <a:solidFill>
                  <a:srgbClr val="2C3E35"/>
                </a:solidFill>
                <a:latin typeface="Plus Jakarta Sans"/>
                <a:ea typeface="Plus Jakarta Sans"/>
                <a:cs typeface="Plus Jakarta Sans"/>
                <a:sym typeface="Plus Jakarta Sans"/>
              </a:rPr>
              <a:t>10 training images per class</a:t>
            </a:r>
            <a:r>
              <a:rPr lang="en-US" sz="1200" b="0" i="0" u="none" strike="noStrike" cap="none">
                <a:solidFill>
                  <a:srgbClr val="2C3E35"/>
                </a:solidFill>
                <a:latin typeface="Plus Jakarta Sans"/>
                <a:ea typeface="Plus Jakarta Sans"/>
                <a:cs typeface="Plus Jakarta Sans"/>
                <a:sym typeface="Plus Jakarta Sans"/>
              </a:rPr>
              <a:t>. This extreme ceiling imposes a constant, severe threat of overfitting, making heavy-parameter model architectures vulnerable.</a:t>
            </a:r>
            <a:endParaRPr/>
          </a:p>
        </p:txBody>
      </p:sp>
      <p:sp>
        <p:nvSpPr>
          <p:cNvPr id="110" name="Google Shape;110;p16"/>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Fine-Grained Problem Definition</a:t>
            </a:r>
            <a:endParaRPr/>
          </a:p>
        </p:txBody>
      </p:sp>
      <p:sp>
        <p:nvSpPr>
          <p:cNvPr id="111" name="Google Shape;111;p16"/>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115"/>
        <p:cNvGrpSpPr/>
        <p:nvPr/>
      </p:nvGrpSpPr>
      <p:grpSpPr>
        <a:xfrm>
          <a:off x="0" y="0"/>
          <a:ext cx="0" cy="0"/>
          <a:chOff x="0" y="0"/>
          <a:chExt cx="0" cy="0"/>
        </a:xfrm>
      </p:grpSpPr>
      <p:pic>
        <p:nvPicPr>
          <p:cNvPr id="116" name="Google Shape;11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7" name="Google Shape;117;p17" descr="image.png"/>
          <p:cNvPicPr preferRelativeResize="0"/>
          <p:nvPr/>
        </p:nvPicPr>
        <p:blipFill rotWithShape="1">
          <a:blip r:embed="rId4">
            <a:alphaModFix/>
          </a:blip>
          <a:srcRect/>
          <a:stretch/>
        </p:blipFill>
        <p:spPr>
          <a:xfrm>
            <a:off x="762000" y="2709862"/>
            <a:ext cx="10668000" cy="2000250"/>
          </a:xfrm>
          <a:prstGeom prst="rect">
            <a:avLst/>
          </a:prstGeom>
          <a:noFill/>
          <a:ln>
            <a:noFill/>
          </a:ln>
        </p:spPr>
      </p:pic>
      <p:sp>
        <p:nvSpPr>
          <p:cNvPr id="118" name="Google Shape;118;p17"/>
          <p:cNvSpPr txBox="1"/>
          <p:nvPr/>
        </p:nvSpPr>
        <p:spPr>
          <a:xfrm>
            <a:off x="762000" y="4852987"/>
            <a:ext cx="9829800"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1" u="none" strike="noStrike" cap="none">
                <a:solidFill>
                  <a:srgbClr val="2C3E35"/>
                </a:solidFill>
                <a:latin typeface="Plus Jakarta Sans"/>
                <a:ea typeface="Plus Jakarta Sans"/>
                <a:cs typeface="Plus Jakarta Sans"/>
                <a:sym typeface="Plus Jakarta Sans"/>
              </a:rPr>
              <a:t>Note: Standard Oxford 102 split format dictates a test-set larger than the training set, placing absolute emphasis on strategic generalization and augmentations.</a:t>
            </a:r>
            <a:endParaRPr/>
          </a:p>
        </p:txBody>
      </p:sp>
      <p:sp>
        <p:nvSpPr>
          <p:cNvPr id="119" name="Google Shape;119;p17"/>
          <p:cNvSpPr/>
          <p:nvPr/>
        </p:nvSpPr>
        <p:spPr>
          <a:xfrm>
            <a:off x="771525" y="2719387"/>
            <a:ext cx="10648950" cy="198120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20" name="Google Shape;120;p17"/>
          <p:cNvGraphicFramePr/>
          <p:nvPr/>
        </p:nvGraphicFramePr>
        <p:xfrm>
          <a:off x="771525" y="2719387"/>
          <a:ext cx="3000000" cy="3000000"/>
        </p:xfrm>
        <a:graphic>
          <a:graphicData uri="http://schemas.openxmlformats.org/drawingml/2006/table">
            <a:tbl>
              <a:tblPr firstRow="1" bandRow="1">
                <a:noFill/>
                <a:tableStyleId>{889E4C7E-1079-4BE2-BA88-F7222C40BF34}</a:tableStyleId>
              </a:tblPr>
              <a:tblGrid>
                <a:gridCol w="1899500">
                  <a:extLst>
                    <a:ext uri="{9D8B030D-6E8A-4147-A177-3AD203B41FA5}">
                      <a16:colId xmlns:a16="http://schemas.microsoft.com/office/drawing/2014/main" val="20000"/>
                    </a:ext>
                  </a:extLst>
                </a:gridCol>
                <a:gridCol w="1270550">
                  <a:extLst>
                    <a:ext uri="{9D8B030D-6E8A-4147-A177-3AD203B41FA5}">
                      <a16:colId xmlns:a16="http://schemas.microsoft.com/office/drawing/2014/main" val="20001"/>
                    </a:ext>
                  </a:extLst>
                </a:gridCol>
                <a:gridCol w="1415200">
                  <a:extLst>
                    <a:ext uri="{9D8B030D-6E8A-4147-A177-3AD203B41FA5}">
                      <a16:colId xmlns:a16="http://schemas.microsoft.com/office/drawing/2014/main" val="20002"/>
                    </a:ext>
                  </a:extLst>
                </a:gridCol>
                <a:gridCol w="6063700">
                  <a:extLst>
                    <a:ext uri="{9D8B030D-6E8A-4147-A177-3AD203B41FA5}">
                      <a16:colId xmlns:a16="http://schemas.microsoft.com/office/drawing/2014/main" val="20003"/>
                    </a:ext>
                  </a:extLst>
                </a:gridCol>
              </a:tblGrid>
              <a:tr h="495300">
                <a:tc>
                  <a:txBody>
                    <a:bodyPr/>
                    <a:lstStyle/>
                    <a:p>
                      <a:pPr marL="0" marR="0" lvl="0" indent="0" algn="l" rtl="0">
                        <a:spcBef>
                          <a:spcPts val="0"/>
                        </a:spcBef>
                        <a:spcAft>
                          <a:spcPts val="0"/>
                        </a:spcAft>
                        <a:buNone/>
                      </a:pPr>
                      <a:r>
                        <a:rPr lang="en-US" sz="1125" b="0" i="0" u="none" strike="noStrike" cap="none">
                          <a:solidFill>
                            <a:srgbClr val="FAFAF5"/>
                          </a:solidFill>
                          <a:latin typeface="Plus Jakarta Sans SemiBold"/>
                          <a:ea typeface="Plus Jakarta Sans SemiBold"/>
                          <a:cs typeface="Plus Jakarta Sans SemiBold"/>
                          <a:sym typeface="Plus Jakarta Sans SemiBold"/>
                        </a:rPr>
                        <a:t>Split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2A1D"/>
                    </a:solidFill>
                  </a:tcPr>
                </a:tc>
                <a:tc>
                  <a:txBody>
                    <a:bodyPr/>
                    <a:lstStyle/>
                    <a:p>
                      <a:pPr marL="0" marR="0" lvl="0" indent="0" algn="l" rtl="0">
                        <a:spcBef>
                          <a:spcPts val="0"/>
                        </a:spcBef>
                        <a:spcAft>
                          <a:spcPts val="0"/>
                        </a:spcAft>
                        <a:buNone/>
                      </a:pPr>
                      <a:r>
                        <a:rPr lang="en-US" sz="1125" b="0" i="0" u="none" strike="noStrike" cap="none">
                          <a:solidFill>
                            <a:srgbClr val="FAFAF5"/>
                          </a:solidFill>
                          <a:latin typeface="Plus Jakarta Sans SemiBold"/>
                          <a:ea typeface="Plus Jakarta Sans SemiBold"/>
                          <a:cs typeface="Plus Jakarta Sans SemiBold"/>
                          <a:sym typeface="Plus Jakarta Sans SemiBold"/>
                        </a:rPr>
                        <a:t>Images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2A1D"/>
                    </a:solidFill>
                  </a:tcPr>
                </a:tc>
                <a:tc>
                  <a:txBody>
                    <a:bodyPr/>
                    <a:lstStyle/>
                    <a:p>
                      <a:pPr marL="0" marR="0" lvl="0" indent="0" algn="l" rtl="0">
                        <a:spcBef>
                          <a:spcPts val="0"/>
                        </a:spcBef>
                        <a:spcAft>
                          <a:spcPts val="0"/>
                        </a:spcAft>
                        <a:buNone/>
                      </a:pPr>
                      <a:r>
                        <a:rPr lang="en-US" sz="1125" b="0" i="0" u="none" strike="noStrike" cap="none">
                          <a:solidFill>
                            <a:srgbClr val="FAFAF5"/>
                          </a:solidFill>
                          <a:latin typeface="Plus Jakarta Sans SemiBold"/>
                          <a:ea typeface="Plus Jakarta Sans SemiBold"/>
                          <a:cs typeface="Plus Jakarta Sans SemiBold"/>
                          <a:sym typeface="Plus Jakarta Sans SemiBold"/>
                        </a:rPr>
                        <a:t>Classes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2A1D"/>
                    </a:solidFill>
                  </a:tcPr>
                </a:tc>
                <a:tc>
                  <a:txBody>
                    <a:bodyPr/>
                    <a:lstStyle/>
                    <a:p>
                      <a:pPr marL="0" marR="0" lvl="0" indent="0" algn="l" rtl="0">
                        <a:spcBef>
                          <a:spcPts val="0"/>
                        </a:spcBef>
                        <a:spcAft>
                          <a:spcPts val="0"/>
                        </a:spcAft>
                        <a:buNone/>
                      </a:pPr>
                      <a:r>
                        <a:rPr lang="en-US" sz="1125" b="0" i="0" u="none" strike="noStrike" cap="none">
                          <a:solidFill>
                            <a:srgbClr val="FAFAF5"/>
                          </a:solidFill>
                          <a:latin typeface="Plus Jakarta Sans SemiBold"/>
                          <a:ea typeface="Plus Jakarta Sans SemiBold"/>
                          <a:cs typeface="Plus Jakarta Sans SemiBold"/>
                          <a:sym typeface="Plus Jakarta Sans SemiBold"/>
                        </a:rPr>
                        <a:t>Representation &amp; Profile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2A1D"/>
                    </a:solidFill>
                  </a:tcPr>
                </a:tc>
                <a:extLst>
                  <a:ext uri="{0D108BD9-81ED-4DB2-BD59-A6C34878D82A}">
                    <a16:rowId xmlns:a16="http://schemas.microsoft.com/office/drawing/2014/main" val="10000"/>
                  </a:ext>
                </a:extLst>
              </a:tr>
              <a:tr h="495300">
                <a:tc>
                  <a:txBody>
                    <a:bodyPr/>
                    <a:lstStyle/>
                    <a:p>
                      <a:pPr marL="0" marR="0" lvl="0" indent="0" algn="l" rtl="0">
                        <a:spcBef>
                          <a:spcPts val="0"/>
                        </a:spcBef>
                        <a:spcAft>
                          <a:spcPts val="0"/>
                        </a:spcAft>
                        <a:buNone/>
                      </a:pPr>
                      <a:r>
                        <a:rPr lang="en-US" sz="1125" b="1" i="0" u="none" strike="noStrike" cap="none">
                          <a:solidFill>
                            <a:srgbClr val="2C3E35"/>
                          </a:solidFill>
                          <a:latin typeface="Plus Jakarta Sans"/>
                          <a:ea typeface="Plus Jakarta Sans"/>
                          <a:cs typeface="Plus Jakarta Sans"/>
                          <a:sym typeface="Plus Jakarta Sans"/>
                        </a:rPr>
                        <a:t>Train Split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1,020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102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Exactly 10 annotated samples per flower species.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95300">
                <a:tc>
                  <a:txBody>
                    <a:bodyPr/>
                    <a:lstStyle/>
                    <a:p>
                      <a:pPr marL="0" marR="0" lvl="0" indent="0" algn="l" rtl="0">
                        <a:spcBef>
                          <a:spcPts val="0"/>
                        </a:spcBef>
                        <a:spcAft>
                          <a:spcPts val="0"/>
                        </a:spcAft>
                        <a:buNone/>
                      </a:pPr>
                      <a:r>
                        <a:rPr lang="en-US" sz="1125" b="1" i="0" u="none" strike="noStrike" cap="none">
                          <a:solidFill>
                            <a:srgbClr val="2C3E35"/>
                          </a:solidFill>
                          <a:latin typeface="Plus Jakarta Sans"/>
                          <a:ea typeface="Plus Jakarta Sans"/>
                          <a:cs typeface="Plus Jakarta Sans"/>
                          <a:sym typeface="Plus Jakarta Sans"/>
                        </a:rPr>
                        <a:t>Validation Split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1,020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102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Used for monitoring epoch-by-epoch generalization.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extLst>
                  <a:ext uri="{0D108BD9-81ED-4DB2-BD59-A6C34878D82A}">
                    <a16:rowId xmlns:a16="http://schemas.microsoft.com/office/drawing/2014/main" val="10002"/>
                  </a:ext>
                </a:extLst>
              </a:tr>
              <a:tr h="495300">
                <a:tc>
                  <a:txBody>
                    <a:bodyPr/>
                    <a:lstStyle/>
                    <a:p>
                      <a:pPr marL="0" marR="0" lvl="0" indent="0" algn="l" rtl="0">
                        <a:spcBef>
                          <a:spcPts val="0"/>
                        </a:spcBef>
                        <a:spcAft>
                          <a:spcPts val="0"/>
                        </a:spcAft>
                        <a:buNone/>
                      </a:pPr>
                      <a:r>
                        <a:rPr lang="en-US" sz="1125" b="1" i="0" u="none" strike="noStrike" cap="none">
                          <a:solidFill>
                            <a:srgbClr val="2C3E35"/>
                          </a:solidFill>
                          <a:latin typeface="Plus Jakarta Sans"/>
                          <a:ea typeface="Plus Jakarta Sans"/>
                          <a:cs typeface="Plus Jakarta Sans"/>
                          <a:sym typeface="Plus Jakarta Sans"/>
                        </a:rPr>
                        <a:t>Test Split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6,149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102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Unbalanced remaining samples used for final blind evaluation.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21" name="Google Shape;121;p17"/>
          <p:cNvSpPr/>
          <p:nvPr/>
        </p:nvSpPr>
        <p:spPr>
          <a:xfrm>
            <a:off x="771525" y="3714750"/>
            <a:ext cx="1899493"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2" name="Google Shape;122;p17"/>
          <p:cNvSpPr/>
          <p:nvPr/>
        </p:nvSpPr>
        <p:spPr>
          <a:xfrm>
            <a:off x="2671018" y="3714750"/>
            <a:ext cx="1270545"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3" name="Google Shape;123;p17"/>
          <p:cNvSpPr/>
          <p:nvPr/>
        </p:nvSpPr>
        <p:spPr>
          <a:xfrm>
            <a:off x="3941564" y="3714750"/>
            <a:ext cx="1415206"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7"/>
          <p:cNvSpPr/>
          <p:nvPr/>
        </p:nvSpPr>
        <p:spPr>
          <a:xfrm>
            <a:off x="5356770" y="3714750"/>
            <a:ext cx="6063704"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7"/>
          <p:cNvSpPr/>
          <p:nvPr/>
        </p:nvSpPr>
        <p:spPr>
          <a:xfrm>
            <a:off x="771525" y="4205287"/>
            <a:ext cx="1899493"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7"/>
          <p:cNvSpPr/>
          <p:nvPr/>
        </p:nvSpPr>
        <p:spPr>
          <a:xfrm>
            <a:off x="2671018" y="4205287"/>
            <a:ext cx="1270545"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7"/>
          <p:cNvSpPr/>
          <p:nvPr/>
        </p:nvSpPr>
        <p:spPr>
          <a:xfrm>
            <a:off x="3941564" y="4205287"/>
            <a:ext cx="1415206"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7"/>
          <p:cNvSpPr/>
          <p:nvPr/>
        </p:nvSpPr>
        <p:spPr>
          <a:xfrm>
            <a:off x="5356770" y="4205287"/>
            <a:ext cx="6063704" cy="9525"/>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7"/>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Dataset Specifications</a:t>
            </a:r>
            <a:endParaRPr/>
          </a:p>
        </p:txBody>
      </p:sp>
      <p:sp>
        <p:nvSpPr>
          <p:cNvPr id="130" name="Google Shape;130;p17"/>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134"/>
        <p:cNvGrpSpPr/>
        <p:nvPr/>
      </p:nvGrpSpPr>
      <p:grpSpPr>
        <a:xfrm>
          <a:off x="0" y="0"/>
          <a:ext cx="0" cy="0"/>
          <a:chOff x="0" y="0"/>
          <a:chExt cx="0" cy="0"/>
        </a:xfrm>
      </p:grpSpPr>
      <p:pic>
        <p:nvPicPr>
          <p:cNvPr id="135" name="Google Shape;135;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6" name="Google Shape;136;p18" descr="image.png"/>
          <p:cNvPicPr preferRelativeResize="0"/>
          <p:nvPr/>
        </p:nvPicPr>
        <p:blipFill rotWithShape="1">
          <a:blip r:embed="rId4">
            <a:alphaModFix/>
          </a:blip>
          <a:srcRect/>
          <a:stretch/>
        </p:blipFill>
        <p:spPr>
          <a:xfrm>
            <a:off x="7315200" y="2071687"/>
            <a:ext cx="4114800" cy="3619500"/>
          </a:xfrm>
          <a:prstGeom prst="rect">
            <a:avLst/>
          </a:prstGeom>
          <a:noFill/>
          <a:ln>
            <a:noFill/>
          </a:ln>
        </p:spPr>
      </p:pic>
      <p:pic>
        <p:nvPicPr>
          <p:cNvPr id="137" name="Google Shape;137;p18" descr="image.png"/>
          <p:cNvPicPr preferRelativeResize="0"/>
          <p:nvPr/>
        </p:nvPicPr>
        <p:blipFill rotWithShape="1">
          <a:blip r:embed="rId5">
            <a:alphaModFix/>
          </a:blip>
          <a:srcRect/>
          <a:stretch/>
        </p:blipFill>
        <p:spPr>
          <a:xfrm>
            <a:off x="7419975" y="2176462"/>
            <a:ext cx="3905250" cy="3409950"/>
          </a:xfrm>
          <a:prstGeom prst="rect">
            <a:avLst/>
          </a:prstGeom>
          <a:noFill/>
          <a:ln>
            <a:noFill/>
          </a:ln>
        </p:spPr>
      </p:pic>
      <p:sp>
        <p:nvSpPr>
          <p:cNvPr id="138" name="Google Shape;138;p18"/>
          <p:cNvSpPr txBox="1"/>
          <p:nvPr/>
        </p:nvSpPr>
        <p:spPr>
          <a:xfrm>
            <a:off x="1095375" y="2838450"/>
            <a:ext cx="5838825" cy="4762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Standard Preprocessing:</a:t>
            </a:r>
            <a:r>
              <a:rPr lang="en-US" sz="1200" b="0" i="0" u="none" strike="noStrike" cap="none">
                <a:solidFill>
                  <a:srgbClr val="2C3E35"/>
                </a:solidFill>
                <a:latin typeface="Plus Jakarta Sans"/>
                <a:ea typeface="Plus Jakarta Sans"/>
                <a:cs typeface="Plus Jakarta Sans"/>
                <a:sym typeface="Plus Jakarta Sans"/>
              </a:rPr>
              <a:t> Re-scaled down to a standard grid of 224 × 224 × 3, optimized with batch size of 32 prefetched via tf.data.AUTOTUNE.</a:t>
            </a:r>
            <a:endParaRPr/>
          </a:p>
        </p:txBody>
      </p:sp>
      <p:sp>
        <p:nvSpPr>
          <p:cNvPr id="139" name="Google Shape;139;p18"/>
          <p:cNvSpPr txBox="1"/>
          <p:nvPr/>
        </p:nvSpPr>
        <p:spPr>
          <a:xfrm>
            <a:off x="1095375" y="3467100"/>
            <a:ext cx="5838825" cy="4667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Backbone Normalization:</a:t>
            </a:r>
            <a:r>
              <a:rPr lang="en-US" sz="1200" b="0" i="0" u="none" strike="noStrike" cap="none">
                <a:solidFill>
                  <a:srgbClr val="2C3E35"/>
                </a:solidFill>
                <a:latin typeface="Plus Jakarta Sans"/>
                <a:ea typeface="Plus Jakarta Sans"/>
                <a:cs typeface="Plus Jakarta Sans"/>
                <a:sym typeface="Plus Jakarta Sans"/>
              </a:rPr>
              <a:t> Custom scaling applied (MobileNetV2: scaling range [-1, 1]; ResNet50V2: per-channel zero-centering).</a:t>
            </a:r>
            <a:endParaRPr/>
          </a:p>
        </p:txBody>
      </p:sp>
      <p:sp>
        <p:nvSpPr>
          <p:cNvPr id="140" name="Google Shape;140;p18"/>
          <p:cNvSpPr txBox="1"/>
          <p:nvPr/>
        </p:nvSpPr>
        <p:spPr>
          <a:xfrm>
            <a:off x="1095375" y="4086225"/>
            <a:ext cx="5838825"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Training Augmentations:</a:t>
            </a:r>
            <a:r>
              <a:rPr lang="en-US" sz="1200" b="0" i="0" u="none" strike="noStrike" cap="none">
                <a:solidFill>
                  <a:srgbClr val="2C3E35"/>
                </a:solidFill>
                <a:latin typeface="Plus Jakarta Sans"/>
                <a:ea typeface="Plus Jakarta Sans"/>
                <a:cs typeface="Plus Jakarta Sans"/>
                <a:sym typeface="Plus Jakarta Sans"/>
              </a:rPr>
              <a:t> High-entropy random on-the-fly shifts including horizontal flips, 0.2 rotation factor, 0.15 zoom bounds, translation, and contrast adjustment.</a:t>
            </a:r>
            <a:endParaRPr/>
          </a:p>
        </p:txBody>
      </p:sp>
      <p:sp>
        <p:nvSpPr>
          <p:cNvPr id="141" name="Google Shape;141;p18"/>
          <p:cNvSpPr txBox="1"/>
          <p:nvPr/>
        </p:nvSpPr>
        <p:spPr>
          <a:xfrm>
            <a:off x="809625" y="2857500"/>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42" name="Google Shape;142;p18"/>
          <p:cNvSpPr txBox="1"/>
          <p:nvPr/>
        </p:nvSpPr>
        <p:spPr>
          <a:xfrm>
            <a:off x="809625" y="3486150"/>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43" name="Google Shape;143;p18"/>
          <p:cNvSpPr txBox="1"/>
          <p:nvPr/>
        </p:nvSpPr>
        <p:spPr>
          <a:xfrm>
            <a:off x="809625" y="4105275"/>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44" name="Google Shape;144;p18"/>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Data Pipeline &amp; Augmentation</a:t>
            </a:r>
            <a:endParaRPr/>
          </a:p>
        </p:txBody>
      </p:sp>
      <p:sp>
        <p:nvSpPr>
          <p:cNvPr id="145" name="Google Shape;145;p18"/>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149"/>
        <p:cNvGrpSpPr/>
        <p:nvPr/>
      </p:nvGrpSpPr>
      <p:grpSpPr>
        <a:xfrm>
          <a:off x="0" y="0"/>
          <a:ext cx="0" cy="0"/>
          <a:chOff x="0" y="0"/>
          <a:chExt cx="0" cy="0"/>
        </a:xfrm>
      </p:grpSpPr>
      <p:pic>
        <p:nvPicPr>
          <p:cNvPr id="150" name="Google Shape;150;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1" name="Google Shape;151;p19" descr="image.png"/>
          <p:cNvPicPr preferRelativeResize="0"/>
          <p:nvPr/>
        </p:nvPicPr>
        <p:blipFill rotWithShape="1">
          <a:blip r:embed="rId4">
            <a:alphaModFix/>
          </a:blip>
          <a:srcRect/>
          <a:stretch/>
        </p:blipFill>
        <p:spPr>
          <a:xfrm>
            <a:off x="762000" y="1476375"/>
            <a:ext cx="5143500" cy="4810125"/>
          </a:xfrm>
          <a:prstGeom prst="rect">
            <a:avLst/>
          </a:prstGeom>
          <a:noFill/>
          <a:ln>
            <a:noFill/>
          </a:ln>
        </p:spPr>
      </p:pic>
      <p:pic>
        <p:nvPicPr>
          <p:cNvPr id="152" name="Google Shape;152;p19" descr="image.png"/>
          <p:cNvPicPr preferRelativeResize="0"/>
          <p:nvPr/>
        </p:nvPicPr>
        <p:blipFill rotWithShape="1">
          <a:blip r:embed="rId5">
            <a:alphaModFix/>
          </a:blip>
          <a:srcRect/>
          <a:stretch/>
        </p:blipFill>
        <p:spPr>
          <a:xfrm>
            <a:off x="6286500" y="1476375"/>
            <a:ext cx="5143500" cy="4810125"/>
          </a:xfrm>
          <a:prstGeom prst="rect">
            <a:avLst/>
          </a:prstGeom>
          <a:noFill/>
          <a:ln>
            <a:noFill/>
          </a:ln>
        </p:spPr>
      </p:pic>
      <p:sp>
        <p:nvSpPr>
          <p:cNvPr id="153" name="Google Shape;153;p19"/>
          <p:cNvSpPr txBox="1"/>
          <p:nvPr/>
        </p:nvSpPr>
        <p:spPr>
          <a:xfrm>
            <a:off x="1104900" y="2732782"/>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12A1D"/>
                </a:solidFill>
                <a:latin typeface="Playfair Display SemiBold"/>
                <a:ea typeface="Playfair Display SemiBold"/>
                <a:cs typeface="Playfair Display SemiBold"/>
                <a:sym typeface="Playfair Display SemiBold"/>
              </a:rPr>
              <a:t>1. Premium Backbones</a:t>
            </a:r>
            <a:endParaRPr/>
          </a:p>
        </p:txBody>
      </p:sp>
      <p:sp>
        <p:nvSpPr>
          <p:cNvPr id="154" name="Google Shape;154;p19"/>
          <p:cNvSpPr txBox="1"/>
          <p:nvPr/>
        </p:nvSpPr>
        <p:spPr>
          <a:xfrm>
            <a:off x="1104900" y="3209032"/>
            <a:ext cx="445770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Pre-trained on 1.28M ImageNet samples, contrasting lightweight vs heavily parameterized designs:</a:t>
            </a:r>
            <a:endParaRPr/>
          </a:p>
        </p:txBody>
      </p:sp>
      <p:sp>
        <p:nvSpPr>
          <p:cNvPr id="155" name="Google Shape;155;p19"/>
          <p:cNvSpPr txBox="1"/>
          <p:nvPr/>
        </p:nvSpPr>
        <p:spPr>
          <a:xfrm>
            <a:off x="6629400" y="2580382"/>
            <a:ext cx="4680585" cy="333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112A1D"/>
                </a:solidFill>
                <a:latin typeface="Playfair Display SemiBold"/>
                <a:ea typeface="Playfair Display SemiBold"/>
                <a:cs typeface="Playfair Display SemiBold"/>
                <a:sym typeface="Playfair Display SemiBold"/>
              </a:rPr>
              <a:t>2. Shared Classifier Head</a:t>
            </a:r>
            <a:endParaRPr/>
          </a:p>
        </p:txBody>
      </p:sp>
      <p:sp>
        <p:nvSpPr>
          <p:cNvPr id="156" name="Google Shape;156;p19"/>
          <p:cNvSpPr txBox="1"/>
          <p:nvPr/>
        </p:nvSpPr>
        <p:spPr>
          <a:xfrm>
            <a:off x="6629400" y="3056632"/>
            <a:ext cx="4457700"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Identical classifier configurations appended to guarantee strict, unbiased comparison:</a:t>
            </a:r>
            <a:endParaRPr/>
          </a:p>
        </p:txBody>
      </p:sp>
      <p:sp>
        <p:nvSpPr>
          <p:cNvPr id="157" name="Google Shape;157;p19"/>
          <p:cNvSpPr txBox="1"/>
          <p:nvPr/>
        </p:nvSpPr>
        <p:spPr>
          <a:xfrm>
            <a:off x="1438275" y="3810892"/>
            <a:ext cx="4124325"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MobileNetV2:</a:t>
            </a:r>
            <a:r>
              <a:rPr lang="en-US" sz="1200" b="0" i="0" u="none" strike="noStrike" cap="none">
                <a:solidFill>
                  <a:srgbClr val="2C3E35"/>
                </a:solidFill>
                <a:latin typeface="Plus Jakarta Sans"/>
                <a:ea typeface="Plus Jakarta Sans"/>
                <a:cs typeface="Plus Jakarta Sans"/>
                <a:sym typeface="Plus Jakarta Sans"/>
              </a:rPr>
              <a:t> ~2.3M params, leveraging efficient depthwise-separable blocks.</a:t>
            </a:r>
            <a:endParaRPr/>
          </a:p>
        </p:txBody>
      </p:sp>
      <p:sp>
        <p:nvSpPr>
          <p:cNvPr id="158" name="Google Shape;158;p19"/>
          <p:cNvSpPr txBox="1"/>
          <p:nvPr/>
        </p:nvSpPr>
        <p:spPr>
          <a:xfrm>
            <a:off x="1438275" y="4420492"/>
            <a:ext cx="4124325"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ResNet50V2:</a:t>
            </a:r>
            <a:r>
              <a:rPr lang="en-US" sz="1200" b="0" i="0" u="none" strike="noStrike" cap="none">
                <a:solidFill>
                  <a:srgbClr val="2C3E35"/>
                </a:solidFill>
                <a:latin typeface="Plus Jakarta Sans"/>
                <a:ea typeface="Plus Jakarta Sans"/>
                <a:cs typeface="Plus Jakarta Sans"/>
                <a:sym typeface="Plus Jakarta Sans"/>
              </a:rPr>
              <a:t> ~23.5M params, using deep residual skip structures.</a:t>
            </a:r>
            <a:endParaRPr/>
          </a:p>
        </p:txBody>
      </p:sp>
      <p:sp>
        <p:nvSpPr>
          <p:cNvPr id="159" name="Google Shape;159;p19"/>
          <p:cNvSpPr txBox="1"/>
          <p:nvPr/>
        </p:nvSpPr>
        <p:spPr>
          <a:xfrm>
            <a:off x="6962775" y="3658492"/>
            <a:ext cx="41243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Global Average Pooling 2D + BatchNormalization.</a:t>
            </a:r>
            <a:endParaRPr/>
          </a:p>
        </p:txBody>
      </p:sp>
      <p:sp>
        <p:nvSpPr>
          <p:cNvPr id="160" name="Google Shape;160;p19"/>
          <p:cNvSpPr txBox="1"/>
          <p:nvPr/>
        </p:nvSpPr>
        <p:spPr>
          <a:xfrm>
            <a:off x="6962775" y="4039492"/>
            <a:ext cx="41243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Dense 256 Layer (with L2 Regularization &amp; 0.3 Dropout).</a:t>
            </a:r>
            <a:endParaRPr/>
          </a:p>
        </p:txBody>
      </p:sp>
      <p:sp>
        <p:nvSpPr>
          <p:cNvPr id="161" name="Google Shape;161;p19"/>
          <p:cNvSpPr txBox="1"/>
          <p:nvPr/>
        </p:nvSpPr>
        <p:spPr>
          <a:xfrm>
            <a:off x="6962775" y="4420492"/>
            <a:ext cx="41243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Dense 256 Layer (with L2 Regularization &amp; 0.4 Dropout).</a:t>
            </a:r>
            <a:endParaRPr/>
          </a:p>
        </p:txBody>
      </p:sp>
      <p:sp>
        <p:nvSpPr>
          <p:cNvPr id="162" name="Google Shape;162;p19"/>
          <p:cNvSpPr txBox="1"/>
          <p:nvPr/>
        </p:nvSpPr>
        <p:spPr>
          <a:xfrm>
            <a:off x="6962775" y="4801492"/>
            <a:ext cx="41243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Dense 102 Softmax Layer.</a:t>
            </a:r>
            <a:endParaRPr/>
          </a:p>
        </p:txBody>
      </p:sp>
      <p:sp>
        <p:nvSpPr>
          <p:cNvPr id="163" name="Google Shape;163;p19"/>
          <p:cNvSpPr txBox="1"/>
          <p:nvPr/>
        </p:nvSpPr>
        <p:spPr>
          <a:xfrm>
            <a:off x="1152525" y="3829942"/>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64" name="Google Shape;164;p19"/>
          <p:cNvSpPr txBox="1"/>
          <p:nvPr/>
        </p:nvSpPr>
        <p:spPr>
          <a:xfrm>
            <a:off x="1152525" y="4439542"/>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65" name="Google Shape;165;p19"/>
          <p:cNvSpPr txBox="1"/>
          <p:nvPr/>
        </p:nvSpPr>
        <p:spPr>
          <a:xfrm>
            <a:off x="6677025" y="3677542"/>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66" name="Google Shape;166;p19"/>
          <p:cNvSpPr txBox="1"/>
          <p:nvPr/>
        </p:nvSpPr>
        <p:spPr>
          <a:xfrm>
            <a:off x="6677025" y="4058542"/>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67" name="Google Shape;167;p19"/>
          <p:cNvSpPr txBox="1"/>
          <p:nvPr/>
        </p:nvSpPr>
        <p:spPr>
          <a:xfrm>
            <a:off x="6677025" y="4439542"/>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68" name="Google Shape;168;p19"/>
          <p:cNvSpPr txBox="1"/>
          <p:nvPr/>
        </p:nvSpPr>
        <p:spPr>
          <a:xfrm>
            <a:off x="6677025" y="4820542"/>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169" name="Google Shape;169;p19"/>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Two-Part Model Architectures</a:t>
            </a:r>
            <a:endParaRPr/>
          </a:p>
        </p:txBody>
      </p:sp>
      <p:sp>
        <p:nvSpPr>
          <p:cNvPr id="170" name="Google Shape;170;p19"/>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4"/>
        <p:cNvGrpSpPr/>
        <p:nvPr/>
      </p:nvGrpSpPr>
      <p:grpSpPr>
        <a:xfrm>
          <a:off x="0" y="0"/>
          <a:ext cx="0" cy="0"/>
          <a:chOff x="0" y="0"/>
          <a:chExt cx="0" cy="0"/>
        </a:xfrm>
      </p:grpSpPr>
      <p:pic>
        <p:nvPicPr>
          <p:cNvPr id="175" name="Google Shape;175;p20"/>
          <p:cNvPicPr preferRelativeResize="0"/>
          <p:nvPr/>
        </p:nvPicPr>
        <p:blipFill rotWithShape="1">
          <a:blip r:embed="rId4">
            <a:alphaModFix/>
          </a:blip>
          <a:srcRect/>
          <a:stretch/>
        </p:blipFill>
        <p:spPr>
          <a:xfrm>
            <a:off x="0" y="0"/>
            <a:ext cx="12192000" cy="6858000"/>
          </a:xfrm>
          <a:prstGeom prst="rect">
            <a:avLst/>
          </a:prstGeom>
          <a:noFill/>
          <a:ln>
            <a:noFill/>
          </a:ln>
        </p:spPr>
      </p:pic>
      <p:grpSp>
        <p:nvGrpSpPr>
          <p:cNvPr id="176" name="Google Shape;176;p20"/>
          <p:cNvGrpSpPr/>
          <p:nvPr/>
        </p:nvGrpSpPr>
        <p:grpSpPr>
          <a:xfrm>
            <a:off x="762000" y="571500"/>
            <a:ext cx="10668000" cy="619275"/>
            <a:chOff x="762000" y="571500"/>
            <a:chExt cx="10668000" cy="619275"/>
          </a:xfrm>
        </p:grpSpPr>
        <p:sp>
          <p:nvSpPr>
            <p:cNvPr id="177" name="Google Shape;177;p20"/>
            <p:cNvSpPr txBox="1"/>
            <p:nvPr/>
          </p:nvSpPr>
          <p:spPr>
            <a:xfrm>
              <a:off x="762000" y="571500"/>
              <a:ext cx="10668000" cy="504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50" b="1">
                  <a:solidFill>
                    <a:srgbClr val="112A1D"/>
                  </a:solidFill>
                  <a:latin typeface="Playfair Display"/>
                  <a:ea typeface="Playfair Display"/>
                  <a:cs typeface="Playfair Display"/>
                  <a:sym typeface="Playfair Display"/>
                </a:rPr>
                <a:t>Methodology Overview: Deep Learning Workflow</a:t>
              </a:r>
              <a:endParaRPr sz="2850" b="1">
                <a:solidFill>
                  <a:srgbClr val="112A1D"/>
                </a:solidFill>
                <a:latin typeface="Playfair Display"/>
                <a:ea typeface="Playfair Display"/>
                <a:cs typeface="Playfair Display"/>
                <a:sym typeface="Playfair Display"/>
              </a:endParaRPr>
            </a:p>
          </p:txBody>
        </p:sp>
        <p:sp>
          <p:nvSpPr>
            <p:cNvPr id="178" name="Google Shape;178;p20"/>
            <p:cNvSpPr/>
            <p:nvPr/>
          </p:nvSpPr>
          <p:spPr>
            <a:xfrm>
              <a:off x="762000" y="1171575"/>
              <a:ext cx="10668000" cy="19200"/>
            </a:xfrm>
            <a:prstGeom prst="rect">
              <a:avLst/>
            </a:prstGeom>
            <a:solidFill>
              <a:srgbClr val="E3E8E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pic>
        <p:nvPicPr>
          <p:cNvPr id="179" name="Google Shape;179;p20"/>
          <p:cNvPicPr preferRelativeResize="0"/>
          <p:nvPr/>
        </p:nvPicPr>
        <p:blipFill rotWithShape="1">
          <a:blip r:embed="rId5">
            <a:alphaModFix/>
          </a:blip>
          <a:srcRect t="21301" b="21301"/>
          <a:stretch/>
        </p:blipFill>
        <p:spPr>
          <a:xfrm>
            <a:off x="762000" y="1524000"/>
            <a:ext cx="10668000" cy="4572000"/>
          </a:xfrm>
          <a:prstGeom prst="roundRect">
            <a:avLst>
              <a:gd name="adj" fmla="val 4166"/>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2A1D"/>
        </a:solidFill>
        <a:effectLst/>
      </p:bgPr>
    </p:bg>
    <p:spTree>
      <p:nvGrpSpPr>
        <p:cNvPr id="1" name="Shape 183"/>
        <p:cNvGrpSpPr/>
        <p:nvPr/>
      </p:nvGrpSpPr>
      <p:grpSpPr>
        <a:xfrm>
          <a:off x="0" y="0"/>
          <a:ext cx="0" cy="0"/>
          <a:chOff x="0" y="0"/>
          <a:chExt cx="0" cy="0"/>
        </a:xfrm>
      </p:grpSpPr>
      <p:pic>
        <p:nvPicPr>
          <p:cNvPr id="184" name="Google Shape;18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5" name="Google Shape;185;p21"/>
          <p:cNvSpPr txBox="1"/>
          <p:nvPr/>
        </p:nvSpPr>
        <p:spPr>
          <a:xfrm>
            <a:off x="2095500" y="2609850"/>
            <a:ext cx="8001000" cy="657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FAFAF5"/>
                </a:solidFill>
                <a:latin typeface="Playfair Display"/>
                <a:ea typeface="Playfair Display"/>
                <a:cs typeface="Playfair Display"/>
                <a:sym typeface="Playfair Display"/>
              </a:rPr>
              <a:t>Model Optimization &amp; Results</a:t>
            </a:r>
            <a:endParaRPr/>
          </a:p>
        </p:txBody>
      </p:sp>
      <p:sp>
        <p:nvSpPr>
          <p:cNvPr id="186" name="Google Shape;186;p21"/>
          <p:cNvSpPr/>
          <p:nvPr/>
        </p:nvSpPr>
        <p:spPr>
          <a:xfrm>
            <a:off x="5715000" y="3457575"/>
            <a:ext cx="762000" cy="28575"/>
          </a:xfrm>
          <a:prstGeom prst="rect">
            <a:avLst/>
          </a:prstGeom>
          <a:solidFill>
            <a:srgbClr val="C38B2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21"/>
          <p:cNvSpPr txBox="1"/>
          <p:nvPr/>
        </p:nvSpPr>
        <p:spPr>
          <a:xfrm>
            <a:off x="2286000" y="3676650"/>
            <a:ext cx="7620000" cy="571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A4BEAE"/>
                </a:solidFill>
                <a:latin typeface="Plus Jakarta Sans"/>
                <a:ea typeface="Plus Jakarta Sans"/>
                <a:cs typeface="Plus Jakarta Sans"/>
                <a:sym typeface="Plus Jakarta Sans"/>
              </a:rPr>
              <a:t>Diagnosing critical pipeline errors, comparing iterations, and defining the winning configuration.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191"/>
        <p:cNvGrpSpPr/>
        <p:nvPr/>
      </p:nvGrpSpPr>
      <p:grpSpPr>
        <a:xfrm>
          <a:off x="0" y="0"/>
          <a:ext cx="0" cy="0"/>
          <a:chOff x="0" y="0"/>
          <a:chExt cx="0" cy="0"/>
        </a:xfrm>
      </p:grpSpPr>
      <p:pic>
        <p:nvPicPr>
          <p:cNvPr id="192" name="Google Shape;19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3" name="Google Shape;193;p22"/>
          <p:cNvSpPr txBox="1"/>
          <p:nvPr/>
        </p:nvSpPr>
        <p:spPr>
          <a:xfrm>
            <a:off x="762000" y="571500"/>
            <a:ext cx="5350668"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The Batch Normalization Bug</a:t>
            </a:r>
            <a:endParaRPr/>
          </a:p>
        </p:txBody>
      </p:sp>
      <p:sp>
        <p:nvSpPr>
          <p:cNvPr id="194" name="Google Shape;194;p22"/>
          <p:cNvSpPr/>
          <p:nvPr/>
        </p:nvSpPr>
        <p:spPr>
          <a:xfrm>
            <a:off x="762000" y="1171575"/>
            <a:ext cx="5095875"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5" name="Google Shape;195;p22" descr="image.png"/>
          <p:cNvPicPr preferRelativeResize="0"/>
          <p:nvPr/>
        </p:nvPicPr>
        <p:blipFill rotWithShape="1">
          <a:blip r:embed="rId4">
            <a:alphaModFix/>
          </a:blip>
          <a:srcRect/>
          <a:stretch/>
        </p:blipFill>
        <p:spPr>
          <a:xfrm>
            <a:off x="6334125" y="0"/>
            <a:ext cx="5857875" cy="6858000"/>
          </a:xfrm>
          <a:prstGeom prst="rect">
            <a:avLst/>
          </a:prstGeom>
          <a:noFill/>
          <a:ln>
            <a:noFill/>
          </a:ln>
        </p:spPr>
      </p:pic>
      <p:sp>
        <p:nvSpPr>
          <p:cNvPr id="196" name="Google Shape;196;p22"/>
          <p:cNvSpPr/>
          <p:nvPr/>
        </p:nvSpPr>
        <p:spPr>
          <a:xfrm>
            <a:off x="2738437" y="871537"/>
            <a:ext cx="1143000" cy="19050"/>
          </a:xfrm>
          <a:prstGeom prst="rect">
            <a:avLst/>
          </a:prstGeom>
          <a:solidFill>
            <a:srgbClr val="C38B2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7" name="Google Shape;197;p22"/>
          <p:cNvSpPr txBox="1"/>
          <p:nvPr/>
        </p:nvSpPr>
        <p:spPr>
          <a:xfrm>
            <a:off x="762000" y="2647205"/>
            <a:ext cx="5350668"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112A1D"/>
                </a:solidFill>
                <a:latin typeface="Playfair Display"/>
                <a:ea typeface="Playfair Display"/>
                <a:cs typeface="Playfair Display"/>
                <a:sym typeface="Playfair Display"/>
              </a:rPr>
              <a:t>The v1 Collapse</a:t>
            </a:r>
            <a:endParaRPr/>
          </a:p>
        </p:txBody>
      </p:sp>
      <p:sp>
        <p:nvSpPr>
          <p:cNvPr id="198" name="Google Shape;198;p22"/>
          <p:cNvSpPr txBox="1"/>
          <p:nvPr/>
        </p:nvSpPr>
        <p:spPr>
          <a:xfrm>
            <a:off x="762000" y="2885330"/>
            <a:ext cx="5095875"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During Phase 2 fine-tuning baseline (v1), setting backbone trainable to true inadvertently unfroze BatchNormalization layers, causing statistics corruption. Training accuracy collapsed from 0.89 to 0.53 within epochs.</a:t>
            </a:r>
            <a:endParaRPr/>
          </a:p>
        </p:txBody>
      </p:sp>
      <p:sp>
        <p:nvSpPr>
          <p:cNvPr id="199" name="Google Shape;199;p22"/>
          <p:cNvSpPr txBox="1"/>
          <p:nvPr/>
        </p:nvSpPr>
        <p:spPr>
          <a:xfrm>
            <a:off x="762000" y="4003327"/>
            <a:ext cx="5350668"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112A1D"/>
                </a:solidFill>
                <a:latin typeface="Playfair Display"/>
                <a:ea typeface="Playfair Display"/>
                <a:cs typeface="Playfair Display"/>
                <a:sym typeface="Playfair Display"/>
              </a:rPr>
              <a:t>The Solution</a:t>
            </a:r>
            <a:endParaRPr/>
          </a:p>
        </p:txBody>
      </p:sp>
      <p:sp>
        <p:nvSpPr>
          <p:cNvPr id="200" name="Google Shape;200;p22"/>
          <p:cNvSpPr txBox="1"/>
          <p:nvPr/>
        </p:nvSpPr>
        <p:spPr>
          <a:xfrm>
            <a:off x="762000" y="4241452"/>
            <a:ext cx="509587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Explicitly re-freezing all backbone BatchNormalization layers during Phase 2 unfreezing preserved optimal pre-trained metrics and led to stable optimization curves.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204"/>
        <p:cNvGrpSpPr/>
        <p:nvPr/>
      </p:nvGrpSpPr>
      <p:grpSpPr>
        <a:xfrm>
          <a:off x="0" y="0"/>
          <a:ext cx="0" cy="0"/>
          <a:chOff x="0" y="0"/>
          <a:chExt cx="0" cy="0"/>
        </a:xfrm>
      </p:grpSpPr>
      <p:pic>
        <p:nvPicPr>
          <p:cNvPr id="205" name="Google Shape;20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7" name="Google Shape;207;p23"/>
          <p:cNvSpPr txBox="1"/>
          <p:nvPr/>
        </p:nvSpPr>
        <p:spPr>
          <a:xfrm>
            <a:off x="761999" y="4852987"/>
            <a:ext cx="10667999" cy="72712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1" i="1" u="none" strike="noStrike" cap="none" dirty="0">
                <a:solidFill>
                  <a:srgbClr val="2C3E35"/>
                </a:solidFill>
                <a:latin typeface="Plus Jakarta Sans"/>
                <a:ea typeface="Plus Jakarta Sans"/>
                <a:cs typeface="Plus Jakarta Sans"/>
                <a:sym typeface="Plus Jakarta Sans"/>
              </a:rPr>
              <a:t>Takeaway. </a:t>
            </a:r>
            <a:r>
              <a:rPr lang="en-US" sz="1050" b="0" i="1" u="none" strike="noStrike" cap="none" dirty="0">
                <a:solidFill>
                  <a:srgbClr val="2C3E35"/>
                </a:solidFill>
                <a:latin typeface="Plus Jakarta Sans"/>
                <a:ea typeface="Plus Jakarta Sans"/>
                <a:cs typeface="Plus Jakarta Sans"/>
                <a:sym typeface="Plus Jakarta Sans"/>
              </a:rPr>
              <a:t>Fixing the BatchNorm freezing bug and layering in stronger augmentation, dropout regularization, and LR decay lifted validation F1 from ~0.75 to ~0.94 — a +17pt gain. v4 is the peak; adding custom convolution layers in v5 regressed both backbones, signaling that further gains require data or backbone changes rather than head complexity.</a:t>
            </a:r>
          </a:p>
        </p:txBody>
      </p:sp>
      <p:graphicFrame>
        <p:nvGraphicFramePr>
          <p:cNvPr id="209" name="Google Shape;209;p23"/>
          <p:cNvGraphicFramePr/>
          <p:nvPr>
            <p:extLst>
              <p:ext uri="{D42A27DB-BD31-4B8C-83A1-F6EECF244321}">
                <p14:modId xmlns:p14="http://schemas.microsoft.com/office/powerpoint/2010/main" val="4189280050"/>
              </p:ext>
            </p:extLst>
          </p:nvPr>
        </p:nvGraphicFramePr>
        <p:xfrm>
          <a:off x="762000" y="1955006"/>
          <a:ext cx="10648975" cy="2667000"/>
        </p:xfrm>
        <a:graphic>
          <a:graphicData uri="http://schemas.openxmlformats.org/drawingml/2006/table">
            <a:tbl>
              <a:tblPr firstRow="1" bandRow="1">
                <a:noFill/>
                <a:tableStyleId>{889E4C7E-1079-4BE2-BA88-F7222C40BF34}</a:tableStyleId>
              </a:tblPr>
              <a:tblGrid>
                <a:gridCol w="1289750">
                  <a:extLst>
                    <a:ext uri="{9D8B030D-6E8A-4147-A177-3AD203B41FA5}">
                      <a16:colId xmlns:a16="http://schemas.microsoft.com/office/drawing/2014/main" val="20000"/>
                    </a:ext>
                  </a:extLst>
                </a:gridCol>
                <a:gridCol w="5484475">
                  <a:extLst>
                    <a:ext uri="{9D8B030D-6E8A-4147-A177-3AD203B41FA5}">
                      <a16:colId xmlns:a16="http://schemas.microsoft.com/office/drawing/2014/main" val="20001"/>
                    </a:ext>
                  </a:extLst>
                </a:gridCol>
                <a:gridCol w="1979125">
                  <a:extLst>
                    <a:ext uri="{9D8B030D-6E8A-4147-A177-3AD203B41FA5}">
                      <a16:colId xmlns:a16="http://schemas.microsoft.com/office/drawing/2014/main" val="20002"/>
                    </a:ext>
                  </a:extLst>
                </a:gridCol>
                <a:gridCol w="1895625">
                  <a:extLst>
                    <a:ext uri="{9D8B030D-6E8A-4147-A177-3AD203B41FA5}">
                      <a16:colId xmlns:a16="http://schemas.microsoft.com/office/drawing/2014/main" val="20003"/>
                    </a:ext>
                  </a:extLst>
                </a:gridCol>
              </a:tblGrid>
              <a:tr h="533400">
                <a:tc>
                  <a:txBody>
                    <a:bodyPr/>
                    <a:lstStyle/>
                    <a:p>
                      <a:pPr marL="0" marR="0" lvl="0" indent="0" algn="l" rtl="0">
                        <a:spcBef>
                          <a:spcPts val="0"/>
                        </a:spcBef>
                        <a:spcAft>
                          <a:spcPts val="0"/>
                        </a:spcAft>
                        <a:buNone/>
                      </a:pPr>
                      <a:r>
                        <a:rPr lang="en-US" sz="1125" b="0" i="0" u="none" strike="noStrike" cap="none">
                          <a:solidFill>
                            <a:srgbClr val="FAFAF5"/>
                          </a:solidFill>
                          <a:latin typeface="Plus Jakarta Sans SemiBold"/>
                          <a:ea typeface="Plus Jakarta Sans SemiBold"/>
                          <a:cs typeface="Plus Jakarta Sans SemiBold"/>
                          <a:sym typeface="Plus Jakarta Sans SemiBold"/>
                        </a:rPr>
                        <a:t>Iteration</a:t>
                      </a:r>
                      <a:endParaRPr/>
                    </a:p>
                  </a:txBody>
                  <a:tcPr marL="63500" marR="63500" marT="25400" marB="25400" anchor="ctr">
                    <a:lnL w="12700" cap="flat" cmpd="sng" algn="ctr">
                      <a:solidFill>
                        <a:schemeClr val="tx1"/>
                      </a:solidFill>
                      <a:prstDash val="solid"/>
                      <a:round/>
                      <a:headEnd type="none" w="med" len="med"/>
                      <a:tailEnd type="none" w="med" len="med"/>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solidFill>
                      <a:srgbClr val="112A1D"/>
                    </a:solidFill>
                  </a:tcPr>
                </a:tc>
                <a:tc>
                  <a:txBody>
                    <a:bodyPr/>
                    <a:lstStyle/>
                    <a:p>
                      <a:pPr marL="0" marR="0" lvl="0" indent="0" algn="l" rtl="0">
                        <a:spcBef>
                          <a:spcPts val="0"/>
                        </a:spcBef>
                        <a:spcAft>
                          <a:spcPts val="0"/>
                        </a:spcAft>
                        <a:buNone/>
                      </a:pPr>
                      <a:r>
                        <a:rPr lang="en-US" sz="1125" b="0" i="0" u="none" strike="noStrike" cap="none" dirty="0">
                          <a:solidFill>
                            <a:srgbClr val="FAFAF5"/>
                          </a:solidFill>
                          <a:latin typeface="Plus Jakarta Sans SemiBold"/>
                          <a:ea typeface="Plus Jakarta Sans SemiBold"/>
                          <a:cs typeface="Plus Jakarta Sans SemiBold"/>
                          <a:sym typeface="Plus Jakarta Sans SemiBold"/>
                        </a:rPr>
                        <a:t>Modification Breakdown</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solidFill>
                      <a:srgbClr val="112A1D"/>
                    </a:solidFill>
                  </a:tcPr>
                </a:tc>
                <a:tc>
                  <a:txBody>
                    <a:bodyPr/>
                    <a:lstStyle/>
                    <a:p>
                      <a:pPr marL="0" marR="0" lvl="0" indent="0" algn="l" rtl="0">
                        <a:spcBef>
                          <a:spcPts val="0"/>
                        </a:spcBef>
                        <a:spcAft>
                          <a:spcPts val="0"/>
                        </a:spcAft>
                        <a:buNone/>
                      </a:pPr>
                      <a:r>
                        <a:rPr lang="en-US" sz="1125" b="0" i="0" u="none" strike="noStrike" cap="none" dirty="0">
                          <a:solidFill>
                            <a:srgbClr val="FAFAF5"/>
                          </a:solidFill>
                          <a:latin typeface="Plus Jakarta Sans SemiBold"/>
                          <a:ea typeface="Plus Jakarta Sans SemiBold"/>
                          <a:cs typeface="Plus Jakarta Sans SemiBold"/>
                          <a:sym typeface="Plus Jakarta Sans SemiBold"/>
                        </a:rPr>
                        <a:t>MobileNetV2 Val F1</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solidFill>
                      <a:srgbClr val="112A1D"/>
                    </a:solidFill>
                  </a:tcPr>
                </a:tc>
                <a:tc>
                  <a:txBody>
                    <a:bodyPr/>
                    <a:lstStyle/>
                    <a:p>
                      <a:pPr marL="0" marR="0" lvl="0" indent="0" algn="l" rtl="0">
                        <a:spcBef>
                          <a:spcPts val="0"/>
                        </a:spcBef>
                        <a:spcAft>
                          <a:spcPts val="0"/>
                        </a:spcAft>
                        <a:buNone/>
                      </a:pPr>
                      <a:r>
                        <a:rPr lang="en-US" sz="1125" b="0" i="0" u="none" strike="noStrike" cap="none" dirty="0">
                          <a:solidFill>
                            <a:srgbClr val="FAFAF5"/>
                          </a:solidFill>
                          <a:latin typeface="Plus Jakarta Sans SemiBold"/>
                          <a:ea typeface="Plus Jakarta Sans SemiBold"/>
                          <a:cs typeface="Plus Jakarta Sans SemiBold"/>
                          <a:sym typeface="Plus Jakarta Sans SemiBold"/>
                        </a:rPr>
                        <a:t>ResNet50V2 Val F1</a:t>
                      </a:r>
                      <a:endParaRPr dirty="0"/>
                    </a:p>
                  </a:txBody>
                  <a:tcPr marL="63500" marR="63500" marT="25400" marB="25400" anchor="ctr">
                    <a:lnL w="9525" cap="flat" cmpd="sng">
                      <a:solidFill>
                        <a:srgbClr val="000000">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solidFill>
                        <a:srgbClr val="000000">
                          <a:alpha val="0"/>
                        </a:srgbClr>
                      </a:solidFill>
                      <a:prstDash val="solid"/>
                      <a:round/>
                      <a:headEnd type="none" w="sm" len="sm"/>
                      <a:tailEnd type="none" w="sm" len="sm"/>
                    </a:lnB>
                    <a:solidFill>
                      <a:srgbClr val="112A1D"/>
                    </a:solidFill>
                  </a:tcPr>
                </a:tc>
                <a:extLst>
                  <a:ext uri="{0D108BD9-81ED-4DB2-BD59-A6C34878D82A}">
                    <a16:rowId xmlns:a16="http://schemas.microsoft.com/office/drawing/2014/main" val="10000"/>
                  </a:ext>
                </a:extLst>
              </a:tr>
              <a:tr h="533400">
                <a:tc>
                  <a:txBody>
                    <a:bodyPr/>
                    <a:lstStyle/>
                    <a:p>
                      <a:pPr marL="0" marR="0" lvl="0" indent="0" algn="l" rtl="0">
                        <a:spcBef>
                          <a:spcPts val="0"/>
                        </a:spcBef>
                        <a:spcAft>
                          <a:spcPts val="0"/>
                        </a:spcAft>
                        <a:buNone/>
                      </a:pPr>
                      <a:r>
                        <a:rPr lang="en-US" sz="1125" b="1" i="0" u="none" strike="noStrike" cap="none">
                          <a:solidFill>
                            <a:srgbClr val="2C3E35"/>
                          </a:solidFill>
                          <a:latin typeface="Plus Jakarta Sans"/>
                          <a:ea typeface="Plus Jakarta Sans"/>
                          <a:cs typeface="Plus Jakarta Sans"/>
                          <a:sym typeface="Plus Jakarta Sans"/>
                        </a:rPr>
                        <a:t>v1 Baseline</a:t>
                      </a:r>
                      <a:endParaRPr/>
                    </a:p>
                  </a:txBody>
                  <a:tcPr marL="63500" marR="63500" marT="25400" marB="25400" anchor="ctr">
                    <a:lnL w="12700" cap="flat" cmpd="sng" algn="ctr">
                      <a:solidFill>
                        <a:schemeClr val="tx1"/>
                      </a:solidFill>
                      <a:prstDash val="solid"/>
                      <a:round/>
                      <a:headEnd type="none" w="med" len="med"/>
                      <a:tailEnd type="none" w="med" len="med"/>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Active BatchNorm bug, basic fully-connected head.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0.7776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0.7521</a:t>
                      </a:r>
                      <a:endParaRPr/>
                    </a:p>
                  </a:txBody>
                  <a:tcPr marL="63500" marR="63500" marT="25400" marB="25400" anchor="ctr">
                    <a:lnL w="9525" cap="flat" cmpd="sng">
                      <a:solidFill>
                        <a:srgbClr val="000000">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33400">
                <a:tc>
                  <a:txBody>
                    <a:bodyPr/>
                    <a:lstStyle/>
                    <a:p>
                      <a:pPr marL="0" marR="0" lvl="0" indent="0" algn="l" rtl="0">
                        <a:spcBef>
                          <a:spcPts val="0"/>
                        </a:spcBef>
                        <a:spcAft>
                          <a:spcPts val="0"/>
                        </a:spcAft>
                        <a:buNone/>
                      </a:pPr>
                      <a:r>
                        <a:rPr lang="en-US" sz="1125" b="1" i="0" u="none" strike="noStrike" cap="none" dirty="0">
                          <a:solidFill>
                            <a:srgbClr val="2C3E35"/>
                          </a:solidFill>
                          <a:latin typeface="Plus Jakarta Sans"/>
                          <a:ea typeface="Plus Jakarta Sans"/>
                          <a:cs typeface="Plus Jakarta Sans"/>
                          <a:sym typeface="Plus Jakarta Sans"/>
                        </a:rPr>
                        <a:t>v3 Improved</a:t>
                      </a:r>
                      <a:endParaRPr dirty="0"/>
                    </a:p>
                  </a:txBody>
                  <a:tcPr marL="63500" marR="63500" marT="25400" marB="25400" anchor="ctr">
                    <a:lnL w="12700" cap="flat" cmpd="sng" algn="ctr">
                      <a:solidFill>
                        <a:schemeClr val="tx1"/>
                      </a:solidFill>
                      <a:prstDash val="solid"/>
                      <a:round/>
                      <a:headEnd type="none" w="med" len="med"/>
                      <a:tailEnd type="none" w="med" len="med"/>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BatchNorm layer freezing resolved, stronger image flip &amp; zoom.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tc>
                  <a:txBody>
                    <a:bodyPr/>
                    <a:lstStyle/>
                    <a:p>
                      <a:pPr marL="0" marR="0" lvl="0" indent="0" algn="l" rtl="0">
                        <a:spcBef>
                          <a:spcPts val="0"/>
                        </a:spcBef>
                        <a:spcAft>
                          <a:spcPts val="0"/>
                        </a:spcAft>
                        <a:buNone/>
                      </a:pPr>
                      <a:r>
                        <a:rPr lang="en-US" sz="1125" b="0" i="0" u="none" strike="noStrike" cap="none">
                          <a:solidFill>
                            <a:srgbClr val="2C3E35"/>
                          </a:solidFill>
                          <a:latin typeface="Plus Jakarta Sans"/>
                          <a:ea typeface="Plus Jakarta Sans"/>
                          <a:cs typeface="Plus Jakarta Sans"/>
                          <a:sym typeface="Plus Jakarta Sans"/>
                        </a:rPr>
                        <a:t>~0.8570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tc>
                  <a:txBody>
                    <a:bodyPr/>
                    <a:lstStyle/>
                    <a:p>
                      <a:pPr marL="0" marR="0" lvl="0" indent="0" algn="l" rtl="0">
                        <a:spcBef>
                          <a:spcPts val="0"/>
                        </a:spcBef>
                        <a:spcAft>
                          <a:spcPts val="0"/>
                        </a:spcAft>
                        <a:buNone/>
                      </a:pPr>
                      <a:r>
                        <a:rPr lang="en-US" sz="1125" b="0" i="0" u="none" strike="noStrike" cap="none" dirty="0">
                          <a:solidFill>
                            <a:srgbClr val="2C3E35"/>
                          </a:solidFill>
                          <a:latin typeface="Plus Jakarta Sans"/>
                          <a:ea typeface="Plus Jakarta Sans"/>
                          <a:cs typeface="Plus Jakarta Sans"/>
                          <a:sym typeface="Plus Jakarta Sans"/>
                        </a:rPr>
                        <a:t>~0.8780</a:t>
                      </a:r>
                      <a:endParaRPr dirty="0"/>
                    </a:p>
                  </a:txBody>
                  <a:tcPr marL="63500" marR="63500" marT="25400" marB="25400" anchor="ctr">
                    <a:lnL w="9525" cap="flat" cmpd="sng">
                      <a:solidFill>
                        <a:srgbClr val="000000">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CFDFB"/>
                    </a:solidFill>
                  </a:tcPr>
                </a:tc>
                <a:extLst>
                  <a:ext uri="{0D108BD9-81ED-4DB2-BD59-A6C34878D82A}">
                    <a16:rowId xmlns:a16="http://schemas.microsoft.com/office/drawing/2014/main" val="10002"/>
                  </a:ext>
                </a:extLst>
              </a:tr>
              <a:tr h="533400">
                <a:tc>
                  <a:txBody>
                    <a:bodyPr/>
                    <a:lstStyle/>
                    <a:p>
                      <a:pPr marL="0" marR="0" lvl="0" indent="0" algn="l" rtl="0">
                        <a:spcBef>
                          <a:spcPts val="0"/>
                        </a:spcBef>
                        <a:spcAft>
                          <a:spcPts val="0"/>
                        </a:spcAft>
                        <a:buNone/>
                      </a:pPr>
                      <a:r>
                        <a:rPr lang="en-US" sz="1125" b="1" i="0" u="none" strike="noStrike" cap="none" dirty="0">
                          <a:solidFill>
                            <a:srgbClr val="2C3E35"/>
                          </a:solidFill>
                          <a:latin typeface="Plus Jakarta Sans"/>
                          <a:ea typeface="Plus Jakarta Sans"/>
                          <a:cs typeface="Plus Jakarta Sans"/>
                          <a:sym typeface="Plus Jakarta Sans"/>
                        </a:rPr>
                        <a:t>v4 Final</a:t>
                      </a:r>
                      <a:endParaRPr dirty="0"/>
                    </a:p>
                  </a:txBody>
                  <a:tcPr marL="63500" marR="63500" marT="25400" marB="25400" anchor="ctr">
                    <a:lnL w="12700" cap="flat" cmpd="sng" algn="ctr">
                      <a:solidFill>
                        <a:schemeClr val="tx1"/>
                      </a:solidFill>
                      <a:prstDash val="solid"/>
                      <a:round/>
                      <a:headEnd type="none" w="med" len="med"/>
                      <a:tailEnd type="none" w="med" len="med"/>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dirty="0">
                          <a:solidFill>
                            <a:srgbClr val="2C3E35"/>
                          </a:solidFill>
                          <a:latin typeface="Plus Jakarta Sans"/>
                          <a:ea typeface="Plus Jakarta Sans"/>
                          <a:cs typeface="Plus Jakarta Sans"/>
                          <a:sym typeface="Plus Jakarta Sans"/>
                        </a:rPr>
                        <a:t>Multi-dropout regularized head, LR decay scheduler, rotation &amp; contrast.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C38B2D"/>
                          </a:solidFill>
                          <a:latin typeface="Plus Jakarta Sans"/>
                          <a:ea typeface="Plus Jakarta Sans"/>
                          <a:cs typeface="Plus Jakarta Sans"/>
                          <a:sym typeface="Plus Jakarta Sans"/>
                        </a:rPr>
                        <a:t>0.9453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dirty="0">
                          <a:solidFill>
                            <a:srgbClr val="2C3E35"/>
                          </a:solidFill>
                          <a:latin typeface="Plus Jakarta Sans"/>
                          <a:ea typeface="Plus Jakarta Sans"/>
                          <a:cs typeface="Plus Jakarta Sans"/>
                          <a:sym typeface="Plus Jakarta Sans"/>
                        </a:rPr>
                        <a:t>0.9425</a:t>
                      </a:r>
                      <a:endParaRPr dirty="0"/>
                    </a:p>
                  </a:txBody>
                  <a:tcPr marL="63500" marR="63500" marT="25400" marB="25400" anchor="ctr">
                    <a:lnL w="9525" cap="flat" cmpd="sng">
                      <a:solidFill>
                        <a:srgbClr val="000000">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33400">
                <a:tc>
                  <a:txBody>
                    <a:bodyPr/>
                    <a:lstStyle/>
                    <a:p>
                      <a:pPr marL="0" marR="0" lvl="0" indent="0" algn="l" rtl="0">
                        <a:lnSpc>
                          <a:spcPct val="100000"/>
                        </a:lnSpc>
                        <a:spcBef>
                          <a:spcPts val="0"/>
                        </a:spcBef>
                        <a:spcAft>
                          <a:spcPts val="0"/>
                        </a:spcAft>
                        <a:buClr>
                          <a:srgbClr val="000000"/>
                        </a:buClr>
                        <a:buFont typeface="Arial"/>
                        <a:buNone/>
                      </a:pPr>
                      <a:r>
                        <a:rPr lang="en-US" sz="1125" b="1" i="0" u="none" strike="noStrike" cap="none" dirty="0">
                          <a:solidFill>
                            <a:srgbClr val="2C3E35"/>
                          </a:solidFill>
                          <a:latin typeface="Plus Jakarta Sans"/>
                          <a:cs typeface="Plus Jakarta Sans"/>
                          <a:sym typeface="Arial"/>
                        </a:rPr>
                        <a:t>V5 Advanced </a:t>
                      </a:r>
                      <a:endParaRPr sz="1125" b="1" i="0" u="none" strike="noStrike" cap="none" dirty="0">
                        <a:solidFill>
                          <a:srgbClr val="2C3E35"/>
                        </a:solidFill>
                        <a:latin typeface="Plus Jakarta Sans"/>
                        <a:cs typeface="Plus Jakarta Sans"/>
                        <a:sym typeface="Arial"/>
                      </a:endParaRPr>
                    </a:p>
                  </a:txBody>
                  <a:tcPr marL="63500" marR="63500" marT="25400" marB="25400" anchor="ctr">
                    <a:lnL w="12700" cap="flat" cmpd="sng" algn="ctr">
                      <a:solidFill>
                        <a:schemeClr val="tx1"/>
                      </a:solidFill>
                      <a:prstDash val="solid"/>
                      <a:round/>
                      <a:headEnd type="none" w="med" len="med"/>
                      <a:tailEnd type="none" w="med" len="med"/>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CFDFB"/>
                    </a:solidFill>
                  </a:tcPr>
                </a:tc>
                <a:tc>
                  <a:txBody>
                    <a:bodyPr/>
                    <a:lstStyle/>
                    <a:p>
                      <a:pPr marL="0" marR="0" lvl="0" indent="0" algn="l" rtl="0">
                        <a:lnSpc>
                          <a:spcPct val="100000"/>
                        </a:lnSpc>
                        <a:spcBef>
                          <a:spcPts val="0"/>
                        </a:spcBef>
                        <a:spcAft>
                          <a:spcPts val="0"/>
                        </a:spcAft>
                        <a:buClr>
                          <a:srgbClr val="000000"/>
                        </a:buClr>
                        <a:buFont typeface="Arial"/>
                        <a:buNone/>
                      </a:pPr>
                      <a:r>
                        <a:rPr lang="en-US" sz="1125" b="1" i="0" u="none" strike="noStrike" cap="none" dirty="0">
                          <a:solidFill>
                            <a:srgbClr val="2C3E35"/>
                          </a:solidFill>
                          <a:latin typeface="Plus Jakarta Sans"/>
                          <a:cs typeface="Plus Jakarta Sans"/>
                          <a:sym typeface="Arial"/>
                        </a:rPr>
                        <a:t>In this stage, we focus on adding convolution layers with different architecture connection and focus on train dataset  1020</a:t>
                      </a:r>
                      <a:endParaRPr sz="1125" b="1" i="0" u="none" strike="noStrike" cap="none" dirty="0">
                        <a:solidFill>
                          <a:srgbClr val="2C3E35"/>
                        </a:solidFill>
                        <a:latin typeface="Plus Jakarta Sans"/>
                        <a:cs typeface="Plus Jakarta Sans"/>
                        <a:sym typeface="Arial"/>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CFDFB"/>
                    </a:solidFill>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Calibri"/>
                          <a:ea typeface="Calibri"/>
                          <a:cs typeface="Calibri"/>
                          <a:sym typeface="Arial"/>
                        </a:rPr>
                        <a:t>0.841388</a:t>
                      </a:r>
                      <a:endParaRPr sz="1125" b="1" i="0" u="none" strike="noStrike" cap="none" dirty="0">
                        <a:solidFill>
                          <a:srgbClr val="2C3E35"/>
                        </a:solidFill>
                        <a:latin typeface="Plus Jakarta Sans"/>
                        <a:cs typeface="Plus Jakarta Sans"/>
                        <a:sym typeface="Arial"/>
                      </a:endParaRPr>
                    </a:p>
                  </a:txBody>
                  <a:tcPr marL="63500" marR="63500" marT="25400" marB="2540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CFDFB"/>
                    </a:solidFill>
                  </a:tcPr>
                </a:tc>
                <a:tc>
                  <a:txBody>
                    <a:bodyPr/>
                    <a:lstStyle/>
                    <a:p>
                      <a:pPr marL="0" marR="0" lvl="0" indent="0" algn="l" rtl="0">
                        <a:lnSpc>
                          <a:spcPct val="100000"/>
                        </a:lnSpc>
                        <a:spcBef>
                          <a:spcPts val="0"/>
                        </a:spcBef>
                        <a:spcAft>
                          <a:spcPts val="0"/>
                        </a:spcAft>
                        <a:buClr>
                          <a:srgbClr val="000000"/>
                        </a:buClr>
                        <a:buFont typeface="Arial"/>
                        <a:buNone/>
                      </a:pPr>
                      <a:r>
                        <a:rPr lang="en-US" sz="1400" b="0" i="0" u="none" strike="noStrike" cap="none" dirty="0">
                          <a:solidFill>
                            <a:schemeClr val="dk1"/>
                          </a:solidFill>
                          <a:effectLst/>
                          <a:latin typeface="Calibri"/>
                          <a:ea typeface="Calibri"/>
                          <a:cs typeface="Calibri"/>
                          <a:sym typeface="Arial"/>
                        </a:rPr>
                        <a:t>0.785872</a:t>
                      </a:r>
                      <a:endParaRPr sz="1125" b="1" i="0" u="none" strike="noStrike" cap="none" dirty="0">
                        <a:solidFill>
                          <a:srgbClr val="2C3E35"/>
                        </a:solidFill>
                        <a:latin typeface="Plus Jakarta Sans"/>
                        <a:cs typeface="Plus Jakarta Sans"/>
                        <a:sym typeface="Arial"/>
                      </a:endParaRPr>
                    </a:p>
                  </a:txBody>
                  <a:tcPr marL="63500" marR="63500" marT="25400" marB="25400" anchor="ctr">
                    <a:lnL w="9525" cap="flat" cmpd="sng" algn="ctr">
                      <a:solidFill>
                        <a:srgbClr val="000000">
                          <a:alpha val="0"/>
                        </a:srgbClr>
                      </a:solid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solidFill>
                        <a:srgbClr val="000000">
                          <a:alpha val="0"/>
                        </a:srgbClr>
                      </a:solidFill>
                      <a:prstDash val="solid"/>
                      <a:round/>
                      <a:headEnd type="none" w="sm" len="sm"/>
                      <a:tailEnd type="none" w="sm" len="sm"/>
                    </a:lnT>
                    <a:lnB w="12700" cap="flat" cmpd="sng" algn="ctr">
                      <a:solidFill>
                        <a:schemeClr val="tx1"/>
                      </a:solidFill>
                      <a:prstDash val="solid"/>
                      <a:round/>
                      <a:headEnd type="none" w="med" len="med"/>
                      <a:tailEnd type="none" w="med" len="med"/>
                    </a:lnB>
                    <a:solidFill>
                      <a:srgbClr val="FCFDFB"/>
                    </a:solidFill>
                  </a:tcPr>
                </a:tc>
                <a:extLst>
                  <a:ext uri="{0D108BD9-81ED-4DB2-BD59-A6C34878D82A}">
                    <a16:rowId xmlns:a16="http://schemas.microsoft.com/office/drawing/2014/main" val="2956572491"/>
                  </a:ext>
                </a:extLst>
              </a:tr>
            </a:tbl>
          </a:graphicData>
        </a:graphic>
      </p:graphicFrame>
      <p:sp>
        <p:nvSpPr>
          <p:cNvPr id="218" name="Google Shape;218;p23"/>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Iterative Model Optimization</a:t>
            </a:r>
            <a:endParaRPr/>
          </a:p>
        </p:txBody>
      </p:sp>
      <p:sp>
        <p:nvSpPr>
          <p:cNvPr id="219" name="Google Shape;219;p23"/>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9163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223"/>
        <p:cNvGrpSpPr/>
        <p:nvPr/>
      </p:nvGrpSpPr>
      <p:grpSpPr>
        <a:xfrm>
          <a:off x="0" y="0"/>
          <a:ext cx="0" cy="0"/>
          <a:chOff x="0" y="0"/>
          <a:chExt cx="0" cy="0"/>
        </a:xfrm>
      </p:grpSpPr>
      <p:pic>
        <p:nvPicPr>
          <p:cNvPr id="224" name="Google Shape;224;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5" name="Google Shape;225;p24" descr="image.png"/>
          <p:cNvPicPr preferRelativeResize="0"/>
          <p:nvPr/>
        </p:nvPicPr>
        <p:blipFill rotWithShape="1">
          <a:blip r:embed="rId4">
            <a:alphaModFix/>
          </a:blip>
          <a:srcRect/>
          <a:stretch/>
        </p:blipFill>
        <p:spPr>
          <a:xfrm>
            <a:off x="762000" y="2762250"/>
            <a:ext cx="4586287" cy="2238375"/>
          </a:xfrm>
          <a:prstGeom prst="rect">
            <a:avLst/>
          </a:prstGeom>
          <a:noFill/>
          <a:ln>
            <a:noFill/>
          </a:ln>
        </p:spPr>
      </p:pic>
      <p:sp>
        <p:nvSpPr>
          <p:cNvPr id="226" name="Google Shape;226;p24"/>
          <p:cNvSpPr txBox="1"/>
          <p:nvPr/>
        </p:nvSpPr>
        <p:spPr>
          <a:xfrm>
            <a:off x="1057275" y="3114675"/>
            <a:ext cx="3995700" cy="1154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7500" b="1" i="0" u="none" strike="noStrike" cap="none" dirty="0">
                <a:solidFill>
                  <a:srgbClr val="C38B2D"/>
                </a:solidFill>
                <a:latin typeface="Playfair Display"/>
                <a:ea typeface="Playfair Display"/>
                <a:cs typeface="Playfair Display"/>
                <a:sym typeface="Playfair Display"/>
              </a:rPr>
              <a:t>0.9413</a:t>
            </a:r>
            <a:endParaRPr dirty="0"/>
          </a:p>
        </p:txBody>
      </p:sp>
      <p:sp>
        <p:nvSpPr>
          <p:cNvPr id="227" name="Google Shape;227;p24"/>
          <p:cNvSpPr txBox="1"/>
          <p:nvPr/>
        </p:nvSpPr>
        <p:spPr>
          <a:xfrm>
            <a:off x="1057275" y="4295775"/>
            <a:ext cx="3995737"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FAFAF5"/>
                </a:solidFill>
                <a:latin typeface="Plus Jakarta Sans SemiBold"/>
                <a:ea typeface="Plus Jakarta Sans SemiBold"/>
                <a:cs typeface="Plus Jakarta Sans SemiBold"/>
                <a:sym typeface="Plus Jakarta Sans SemiBold"/>
              </a:rPr>
              <a:t>TEST SET MACRO F1-SCORE</a:t>
            </a:r>
            <a:endParaRPr/>
          </a:p>
        </p:txBody>
      </p:sp>
      <p:sp>
        <p:nvSpPr>
          <p:cNvPr id="228" name="Google Shape;228;p24"/>
          <p:cNvSpPr txBox="1"/>
          <p:nvPr/>
        </p:nvSpPr>
        <p:spPr>
          <a:xfrm>
            <a:off x="5824537" y="2571750"/>
            <a:ext cx="5885735" cy="352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112A1D"/>
                </a:solidFill>
                <a:latin typeface="Playfair Display"/>
                <a:ea typeface="Playfair Display"/>
                <a:cs typeface="Playfair Display"/>
                <a:sym typeface="Playfair Display"/>
              </a:rPr>
              <a:t>MobileNetV2 Selected as Champion</a:t>
            </a:r>
            <a:endParaRPr/>
          </a:p>
        </p:txBody>
      </p:sp>
      <p:sp>
        <p:nvSpPr>
          <p:cNvPr id="229" name="Google Shape;229;p24"/>
          <p:cNvSpPr txBox="1"/>
          <p:nvPr/>
        </p:nvSpPr>
        <p:spPr>
          <a:xfrm>
            <a:off x="6157912" y="3114675"/>
            <a:ext cx="5272087"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dirty="0">
                <a:solidFill>
                  <a:srgbClr val="112A1D"/>
                </a:solidFill>
                <a:latin typeface="Plus Jakarta Sans"/>
                <a:ea typeface="Plus Jakarta Sans"/>
                <a:cs typeface="Plus Jakarta Sans"/>
                <a:sym typeface="Plus Jakarta Sans"/>
              </a:rPr>
              <a:t>Generalization Advantage:</a:t>
            </a:r>
            <a:r>
              <a:rPr lang="en-US" sz="1200" b="0" i="0" u="none" strike="noStrike" cap="none" dirty="0">
                <a:solidFill>
                  <a:srgbClr val="2C3E35"/>
                </a:solidFill>
                <a:latin typeface="Plus Jakarta Sans"/>
                <a:ea typeface="Plus Jakarta Sans"/>
                <a:cs typeface="Plus Jakarta Sans"/>
                <a:sym typeface="Plus Jakarta Sans"/>
              </a:rPr>
              <a:t> In extreme low-data regimes, the smaller model (~2.3M parameters) naturally outperforms ResNet50V2 (~23.5M parameters) by preventing overfitting.</a:t>
            </a:r>
            <a:endParaRPr dirty="0"/>
          </a:p>
        </p:txBody>
      </p:sp>
      <p:sp>
        <p:nvSpPr>
          <p:cNvPr id="230" name="Google Shape;230;p24"/>
          <p:cNvSpPr txBox="1"/>
          <p:nvPr/>
        </p:nvSpPr>
        <p:spPr>
          <a:xfrm>
            <a:off x="6157899" y="3952875"/>
            <a:ext cx="5552400" cy="461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Optimized Learning Decay:</a:t>
            </a:r>
            <a:r>
              <a:rPr lang="en-US" sz="1200" b="0" i="0" u="none" strike="noStrike" cap="none">
                <a:solidFill>
                  <a:srgbClr val="2C3E35"/>
                </a:solidFill>
                <a:latin typeface="Plus Jakarta Sans"/>
                <a:ea typeface="Plus Jakarta Sans"/>
                <a:cs typeface="Plus Jakarta Sans"/>
                <a:sym typeface="Plus Jakarta Sans"/>
              </a:rPr>
              <a:t> Integration of ReduceLROnPlateau generated steep optimization steps, transitioning the LR down to 2.5 × 10⁻⁵.</a:t>
            </a:r>
            <a:endParaRPr/>
          </a:p>
        </p:txBody>
      </p:sp>
      <p:sp>
        <p:nvSpPr>
          <p:cNvPr id="231" name="Google Shape;231;p24"/>
          <p:cNvSpPr txBox="1"/>
          <p:nvPr/>
        </p:nvSpPr>
        <p:spPr>
          <a:xfrm>
            <a:off x="6157912" y="4581525"/>
            <a:ext cx="5272087"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Blind Test Score:</a:t>
            </a:r>
            <a:r>
              <a:rPr lang="en-US" sz="1200" b="0" i="0" u="none" strike="noStrike" cap="none">
                <a:solidFill>
                  <a:srgbClr val="2C3E35"/>
                </a:solidFill>
                <a:latin typeface="Plus Jakarta Sans"/>
                <a:ea typeface="Plus Jakarta Sans"/>
                <a:cs typeface="Plus Jakarta Sans"/>
                <a:sym typeface="Plus Jakarta Sans"/>
              </a:rPr>
              <a:t> Final test Accuracy: </a:t>
            </a:r>
            <a:r>
              <a:rPr lang="en-US" sz="1200" b="1" i="0" u="none" strike="noStrike" cap="none">
                <a:solidFill>
                  <a:srgbClr val="112A1D"/>
                </a:solidFill>
                <a:latin typeface="Plus Jakarta Sans"/>
                <a:ea typeface="Plus Jakarta Sans"/>
                <a:cs typeface="Plus Jakarta Sans"/>
                <a:sym typeface="Plus Jakarta Sans"/>
              </a:rPr>
              <a:t>94.22%</a:t>
            </a:r>
            <a:r>
              <a:rPr lang="en-US" sz="1200" b="0" i="0" u="none" strike="noStrike" cap="none">
                <a:solidFill>
                  <a:srgbClr val="2C3E35"/>
                </a:solidFill>
                <a:latin typeface="Plus Jakarta Sans"/>
                <a:ea typeface="Plus Jakarta Sans"/>
                <a:cs typeface="Plus Jakarta Sans"/>
                <a:sym typeface="Plus Jakarta Sans"/>
              </a:rPr>
              <a:t> | Macro Precision: </a:t>
            </a:r>
            <a:r>
              <a:rPr lang="en-US" sz="1200" b="1" i="0" u="none" strike="noStrike" cap="none">
                <a:solidFill>
                  <a:srgbClr val="112A1D"/>
                </a:solidFill>
                <a:latin typeface="Plus Jakarta Sans"/>
                <a:ea typeface="Plus Jakarta Sans"/>
                <a:cs typeface="Plus Jakarta Sans"/>
                <a:sym typeface="Plus Jakarta Sans"/>
              </a:rPr>
              <a:t>94.74%</a:t>
            </a:r>
            <a:r>
              <a:rPr lang="en-US" sz="1200" b="0" i="0" u="none" strike="noStrike" cap="none">
                <a:solidFill>
                  <a:srgbClr val="2C3E35"/>
                </a:solidFill>
                <a:latin typeface="Plus Jakarta Sans"/>
                <a:ea typeface="Plus Jakarta Sans"/>
                <a:cs typeface="Plus Jakarta Sans"/>
                <a:sym typeface="Plus Jakarta Sans"/>
              </a:rPr>
              <a:t> | Macro Recall: </a:t>
            </a:r>
            <a:r>
              <a:rPr lang="en-US" sz="1200" b="1" i="0" u="none" strike="noStrike" cap="none">
                <a:solidFill>
                  <a:srgbClr val="112A1D"/>
                </a:solidFill>
                <a:latin typeface="Plus Jakarta Sans"/>
                <a:ea typeface="Plus Jakarta Sans"/>
                <a:cs typeface="Plus Jakarta Sans"/>
                <a:sym typeface="Plus Jakarta Sans"/>
              </a:rPr>
              <a:t>94.22%</a:t>
            </a:r>
            <a:r>
              <a:rPr lang="en-US" sz="1200" b="0" i="0" u="none" strike="noStrike" cap="none">
                <a:solidFill>
                  <a:srgbClr val="2C3E35"/>
                </a:solidFill>
                <a:latin typeface="Plus Jakarta Sans"/>
                <a:ea typeface="Plus Jakarta Sans"/>
                <a:cs typeface="Plus Jakarta Sans"/>
                <a:sym typeface="Plus Jakarta Sans"/>
              </a:rPr>
              <a:t>.</a:t>
            </a:r>
            <a:endParaRPr/>
          </a:p>
        </p:txBody>
      </p:sp>
      <p:sp>
        <p:nvSpPr>
          <p:cNvPr id="232" name="Google Shape;232;p24"/>
          <p:cNvSpPr txBox="1"/>
          <p:nvPr/>
        </p:nvSpPr>
        <p:spPr>
          <a:xfrm>
            <a:off x="5872162" y="3133725"/>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233" name="Google Shape;233;p24"/>
          <p:cNvSpPr txBox="1"/>
          <p:nvPr/>
        </p:nvSpPr>
        <p:spPr>
          <a:xfrm>
            <a:off x="5872162" y="3971925"/>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234" name="Google Shape;234;p24"/>
          <p:cNvSpPr txBox="1"/>
          <p:nvPr/>
        </p:nvSpPr>
        <p:spPr>
          <a:xfrm>
            <a:off x="5872162" y="4600575"/>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235" name="Google Shape;235;p24"/>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Best Model Final Performance</a:t>
            </a:r>
            <a:endParaRPr/>
          </a:p>
        </p:txBody>
      </p:sp>
      <p:sp>
        <p:nvSpPr>
          <p:cNvPr id="236" name="Google Shape;236;p24"/>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240"/>
        <p:cNvGrpSpPr/>
        <p:nvPr/>
      </p:nvGrpSpPr>
      <p:grpSpPr>
        <a:xfrm>
          <a:off x="0" y="0"/>
          <a:ext cx="0" cy="0"/>
          <a:chOff x="0" y="0"/>
          <a:chExt cx="0" cy="0"/>
        </a:xfrm>
      </p:grpSpPr>
      <p:pic>
        <p:nvPicPr>
          <p:cNvPr id="241" name="Google Shape;241;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2" name="Google Shape;242;p25" descr="image.png"/>
          <p:cNvPicPr preferRelativeResize="0"/>
          <p:nvPr/>
        </p:nvPicPr>
        <p:blipFill rotWithShape="1">
          <a:blip r:embed="rId4">
            <a:alphaModFix/>
          </a:blip>
          <a:srcRect/>
          <a:stretch/>
        </p:blipFill>
        <p:spPr>
          <a:xfrm>
            <a:off x="7315200" y="2071687"/>
            <a:ext cx="4114800" cy="3619500"/>
          </a:xfrm>
          <a:prstGeom prst="rect">
            <a:avLst/>
          </a:prstGeom>
          <a:noFill/>
          <a:ln>
            <a:noFill/>
          </a:ln>
        </p:spPr>
      </p:pic>
      <p:pic>
        <p:nvPicPr>
          <p:cNvPr id="243" name="Google Shape;243;p25" descr="image.png"/>
          <p:cNvPicPr preferRelativeResize="0"/>
          <p:nvPr/>
        </p:nvPicPr>
        <p:blipFill rotWithShape="1">
          <a:blip r:embed="rId5">
            <a:alphaModFix/>
          </a:blip>
          <a:srcRect/>
          <a:stretch/>
        </p:blipFill>
        <p:spPr>
          <a:xfrm>
            <a:off x="7419975" y="2176462"/>
            <a:ext cx="3905250" cy="3409950"/>
          </a:xfrm>
          <a:prstGeom prst="rect">
            <a:avLst/>
          </a:prstGeom>
          <a:noFill/>
          <a:ln>
            <a:noFill/>
          </a:ln>
        </p:spPr>
      </p:pic>
      <p:sp>
        <p:nvSpPr>
          <p:cNvPr id="244" name="Google Shape;244;p25"/>
          <p:cNvSpPr txBox="1"/>
          <p:nvPr/>
        </p:nvSpPr>
        <p:spPr>
          <a:xfrm>
            <a:off x="1095375" y="2738437"/>
            <a:ext cx="5838825"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Diagonal Dominance:</a:t>
            </a:r>
            <a:r>
              <a:rPr lang="en-US" sz="1200" b="0" i="0" u="none" strike="noStrike" cap="none">
                <a:solidFill>
                  <a:srgbClr val="2C3E35"/>
                </a:solidFill>
                <a:latin typeface="Plus Jakarta Sans"/>
                <a:ea typeface="Plus Jakarta Sans"/>
                <a:cs typeface="Plus Jakarta Sans"/>
                <a:sym typeface="Plus Jakarta Sans"/>
              </a:rPr>
              <a:t> Log-scale heatmap confirmation shows strong diagonal mapping, demonstrating uniform performance across all 102 flower varieties.</a:t>
            </a:r>
            <a:endParaRPr/>
          </a:p>
        </p:txBody>
      </p:sp>
      <p:sp>
        <p:nvSpPr>
          <p:cNvPr id="245" name="Google Shape;245;p25"/>
          <p:cNvSpPr txBox="1"/>
          <p:nvPr/>
        </p:nvSpPr>
        <p:spPr>
          <a:xfrm>
            <a:off x="1095375" y="3348037"/>
            <a:ext cx="5838825"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Visual Similarity Confusions:</a:t>
            </a:r>
            <a:r>
              <a:rPr lang="en-US" sz="1200" b="0" i="0" u="none" strike="noStrike" cap="none">
                <a:solidFill>
                  <a:srgbClr val="2C3E35"/>
                </a:solidFill>
                <a:latin typeface="Plus Jakarta Sans"/>
                <a:ea typeface="Plus Jakarta Sans"/>
                <a:cs typeface="Plus Jakarta Sans"/>
                <a:sym typeface="Plus Jakarta Sans"/>
              </a:rPr>
              <a:t> Principal error clusters occur entirely among adjacent classes sharing identical petal geometries or color scales (e.g., purple/pink clusters).</a:t>
            </a:r>
            <a:endParaRPr/>
          </a:p>
        </p:txBody>
      </p:sp>
      <p:sp>
        <p:nvSpPr>
          <p:cNvPr id="246" name="Google Shape;246;p25"/>
          <p:cNvSpPr txBox="1"/>
          <p:nvPr/>
        </p:nvSpPr>
        <p:spPr>
          <a:xfrm>
            <a:off x="1095375" y="4186237"/>
            <a:ext cx="5838825" cy="685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112A1D"/>
                </a:solidFill>
                <a:latin typeface="Plus Jakarta Sans"/>
                <a:ea typeface="Plus Jakarta Sans"/>
                <a:cs typeface="Plus Jakarta Sans"/>
                <a:sym typeface="Plus Jakarta Sans"/>
              </a:rPr>
              <a:t>Non-Systemic Mistakes:</a:t>
            </a:r>
            <a:r>
              <a:rPr lang="en-US" sz="1200" b="0" i="0" u="none" strike="noStrike" cap="none">
                <a:solidFill>
                  <a:srgbClr val="2C3E35"/>
                </a:solidFill>
                <a:latin typeface="Plus Jakarta Sans"/>
                <a:ea typeface="Plus Jakarta Sans"/>
                <a:cs typeface="Plus Jakarta Sans"/>
                <a:sym typeface="Plus Jakarta Sans"/>
              </a:rPr>
              <a:t> The lack of horizontal or vertical dead bands in the heatmap validates that errors are not systemic, but rather localized fine-grained botanical anomalies.</a:t>
            </a:r>
            <a:endParaRPr/>
          </a:p>
        </p:txBody>
      </p:sp>
      <p:sp>
        <p:nvSpPr>
          <p:cNvPr id="247" name="Google Shape;247;p25"/>
          <p:cNvSpPr txBox="1"/>
          <p:nvPr/>
        </p:nvSpPr>
        <p:spPr>
          <a:xfrm>
            <a:off x="809625" y="2757487"/>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248" name="Google Shape;248;p25"/>
          <p:cNvSpPr txBox="1"/>
          <p:nvPr/>
        </p:nvSpPr>
        <p:spPr>
          <a:xfrm>
            <a:off x="809625" y="3367087"/>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249" name="Google Shape;249;p25"/>
          <p:cNvSpPr txBox="1"/>
          <p:nvPr/>
        </p:nvSpPr>
        <p:spPr>
          <a:xfrm>
            <a:off x="809625" y="4205287"/>
            <a:ext cx="12382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C38B2D"/>
                </a:solidFill>
                <a:latin typeface="Plus Jakarta Sans"/>
                <a:ea typeface="Plus Jakarta Sans"/>
                <a:cs typeface="Plus Jakarta Sans"/>
                <a:sym typeface="Plus Jakarta Sans"/>
              </a:rPr>
              <a:t>✿</a:t>
            </a:r>
            <a:endParaRPr/>
          </a:p>
        </p:txBody>
      </p:sp>
      <p:sp>
        <p:nvSpPr>
          <p:cNvPr id="250" name="Google Shape;250;p25"/>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Confusion Matrix &amp; Error Analysis</a:t>
            </a:r>
            <a:endParaRPr/>
          </a:p>
        </p:txBody>
      </p:sp>
      <p:sp>
        <p:nvSpPr>
          <p:cNvPr id="251" name="Google Shape;251;p25"/>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5"/>
        <p:cNvGrpSpPr/>
        <p:nvPr/>
      </p:nvGrpSpPr>
      <p:grpSpPr>
        <a:xfrm>
          <a:off x="0" y="0"/>
          <a:ext cx="0" cy="0"/>
          <a:chOff x="0" y="0"/>
          <a:chExt cx="0" cy="0"/>
        </a:xfrm>
      </p:grpSpPr>
      <p:pic>
        <p:nvPicPr>
          <p:cNvPr id="256" name="Google Shape;256;p26"/>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57" name="Google Shape;257;p26"/>
          <p:cNvSpPr txBox="1"/>
          <p:nvPr/>
        </p:nvSpPr>
        <p:spPr>
          <a:xfrm>
            <a:off x="762000" y="571500"/>
            <a:ext cx="10668000" cy="504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2850" b="1" i="0">
                <a:solidFill>
                  <a:srgbClr val="112A1D"/>
                </a:solidFill>
                <a:latin typeface="Playfair Display"/>
                <a:ea typeface="Playfair Display"/>
                <a:cs typeface="Playfair Display"/>
                <a:sym typeface="Playfair Display"/>
              </a:rPr>
              <a:t>Confusion Matrix Analysis (MobileNetV2)</a:t>
            </a:r>
            <a:endParaRPr sz="2850" b="1" i="0">
              <a:solidFill>
                <a:srgbClr val="112A1D"/>
              </a:solidFill>
              <a:latin typeface="Playfair Display"/>
              <a:ea typeface="Playfair Display"/>
              <a:cs typeface="Playfair Display"/>
              <a:sym typeface="Playfair Display"/>
            </a:endParaRPr>
          </a:p>
        </p:txBody>
      </p:sp>
      <p:sp>
        <p:nvSpPr>
          <p:cNvPr id="258" name="Google Shape;258;p26"/>
          <p:cNvSpPr/>
          <p:nvPr/>
        </p:nvSpPr>
        <p:spPr>
          <a:xfrm>
            <a:off x="762000" y="1171575"/>
            <a:ext cx="10668000" cy="19200"/>
          </a:xfrm>
          <a:prstGeom prst="rect">
            <a:avLst/>
          </a:prstGeom>
          <a:solidFill>
            <a:srgbClr val="E3E8E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259" name="Google Shape;259;p26"/>
          <p:cNvGrpSpPr/>
          <p:nvPr/>
        </p:nvGrpSpPr>
        <p:grpSpPr>
          <a:xfrm>
            <a:off x="762000" y="1524000"/>
            <a:ext cx="4953150" cy="4572000"/>
            <a:chOff x="762000" y="1524000"/>
            <a:chExt cx="4953150" cy="4572000"/>
          </a:xfrm>
        </p:grpSpPr>
        <p:sp>
          <p:nvSpPr>
            <p:cNvPr id="260" name="Google Shape;260;p26"/>
            <p:cNvSpPr txBox="1"/>
            <p:nvPr/>
          </p:nvSpPr>
          <p:spPr>
            <a:xfrm>
              <a:off x="762000" y="1524000"/>
              <a:ext cx="4953000" cy="2667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400" b="1">
                  <a:solidFill>
                    <a:srgbClr val="C38B2D"/>
                  </a:solidFill>
                  <a:latin typeface="Plus Jakarta Sans"/>
                  <a:ea typeface="Plus Jakarta Sans"/>
                  <a:cs typeface="Plus Jakarta Sans"/>
                  <a:sym typeface="Plus Jakarta Sans"/>
                </a:rPr>
                <a:t>Key Findings</a:t>
              </a:r>
              <a:endParaRPr sz="1400" b="1">
                <a:solidFill>
                  <a:srgbClr val="C38B2D"/>
                </a:solidFill>
                <a:latin typeface="Plus Jakarta Sans"/>
                <a:ea typeface="Plus Jakarta Sans"/>
                <a:cs typeface="Plus Jakarta Sans"/>
                <a:sym typeface="Plus Jakarta Sans"/>
              </a:endParaRPr>
            </a:p>
            <a:p>
              <a:pPr marL="457200" lvl="0" indent="-298450" algn="l" rtl="0">
                <a:spcBef>
                  <a:spcPts val="600"/>
                </a:spcBef>
                <a:spcAft>
                  <a:spcPts val="0"/>
                </a:spcAft>
                <a:buClr>
                  <a:srgbClr val="112A1D"/>
                </a:buClr>
                <a:buSzPts val="1100"/>
                <a:buFont typeface="Plus Jakarta Sans"/>
                <a:buChar char="●"/>
              </a:pPr>
              <a:r>
                <a:rPr lang="en-US" sz="1100" b="1">
                  <a:solidFill>
                    <a:srgbClr val="112A1D"/>
                  </a:solidFill>
                  <a:latin typeface="Plus Jakarta Sans"/>
                  <a:ea typeface="Plus Jakarta Sans"/>
                  <a:cs typeface="Plus Jakarta Sans"/>
                  <a:sym typeface="Plus Jakarta Sans"/>
                </a:rPr>
                <a:t>Diagonal Dominance:</a:t>
              </a:r>
              <a:r>
                <a:rPr lang="en-US" sz="1100">
                  <a:solidFill>
                    <a:srgbClr val="112A1D"/>
                  </a:solidFill>
                  <a:latin typeface="Plus Jakarta Sans"/>
                  <a:ea typeface="Plus Jakarta Sans"/>
                  <a:cs typeface="Plus Jakarta Sans"/>
                  <a:sym typeface="Plus Jakarta Sans"/>
                </a:rPr>
                <a:t> The strong dark diagonal indicates most images were classified correctly, learning highly discriminative features for 102 classes.</a:t>
              </a:r>
              <a:endParaRPr sz="1100">
                <a:solidFill>
                  <a:srgbClr val="112A1D"/>
                </a:solidFill>
                <a:latin typeface="Plus Jakarta Sans"/>
                <a:ea typeface="Plus Jakarta Sans"/>
                <a:cs typeface="Plus Jakarta Sans"/>
                <a:sym typeface="Plus Jakarta Sans"/>
              </a:endParaRPr>
            </a:p>
            <a:p>
              <a:pPr marL="457200" lvl="0" indent="-298450" algn="l" rtl="0">
                <a:spcBef>
                  <a:spcPts val="450"/>
                </a:spcBef>
                <a:spcAft>
                  <a:spcPts val="0"/>
                </a:spcAft>
                <a:buClr>
                  <a:srgbClr val="112A1D"/>
                </a:buClr>
                <a:buSzPts val="1100"/>
                <a:buFont typeface="Plus Jakarta Sans"/>
                <a:buChar char="●"/>
              </a:pPr>
              <a:r>
                <a:rPr lang="en-US" sz="1100" b="1">
                  <a:solidFill>
                    <a:srgbClr val="112A1D"/>
                  </a:solidFill>
                  <a:latin typeface="Plus Jakarta Sans"/>
                  <a:ea typeface="Plus Jakarta Sans"/>
                  <a:cs typeface="Plus Jakarta Sans"/>
                  <a:sym typeface="Plus Jakarta Sans"/>
                </a:rPr>
                <a:t>Error Scattering:</a:t>
              </a:r>
              <a:r>
                <a:rPr lang="en-US" sz="1100">
                  <a:solidFill>
                    <a:srgbClr val="112A1D"/>
                  </a:solidFill>
                  <a:latin typeface="Plus Jakarta Sans"/>
                  <a:ea typeface="Plus Jakarta Sans"/>
                  <a:cs typeface="Plus Jakarta Sans"/>
                  <a:sym typeface="Plus Jakarta Sans"/>
                </a:rPr>
                <a:t> Few light-colored cells outside the diagonal represent minor misclassifications, suggesting errors are scattered rather than systematic.</a:t>
              </a:r>
              <a:endParaRPr sz="1100">
                <a:solidFill>
                  <a:srgbClr val="112A1D"/>
                </a:solidFill>
                <a:latin typeface="Plus Jakarta Sans"/>
                <a:ea typeface="Plus Jakarta Sans"/>
                <a:cs typeface="Plus Jakarta Sans"/>
                <a:sym typeface="Plus Jakarta Sans"/>
              </a:endParaRPr>
            </a:p>
            <a:p>
              <a:pPr marL="457200" lvl="0" indent="-298450" algn="l" rtl="0">
                <a:spcBef>
                  <a:spcPts val="450"/>
                </a:spcBef>
                <a:spcAft>
                  <a:spcPts val="0"/>
                </a:spcAft>
                <a:buClr>
                  <a:srgbClr val="112A1D"/>
                </a:buClr>
                <a:buSzPts val="1100"/>
                <a:buFont typeface="Plus Jakarta Sans"/>
                <a:buChar char="●"/>
              </a:pPr>
              <a:r>
                <a:rPr lang="en-US" sz="1100" b="1">
                  <a:solidFill>
                    <a:srgbClr val="112A1D"/>
                  </a:solidFill>
                  <a:latin typeface="Plus Jakarta Sans"/>
                  <a:ea typeface="Plus Jakarta Sans"/>
                  <a:cs typeface="Plus Jakarta Sans"/>
                  <a:sym typeface="Plus Jakarta Sans"/>
                </a:rPr>
                <a:t>Visualization Strategy:</a:t>
              </a:r>
              <a:r>
                <a:rPr lang="en-US" sz="1100">
                  <a:solidFill>
                    <a:srgbClr val="112A1D"/>
                  </a:solidFill>
                  <a:latin typeface="Plus Jakarta Sans"/>
                  <a:ea typeface="Plus Jakarta Sans"/>
                  <a:cs typeface="Plus Jakarta Sans"/>
                  <a:sym typeface="Plus Jakarta Sans"/>
                </a:rPr>
                <a:t> A logarithmic color scale was utilized to enhance visibility of rare errors against the high-frequency correct predictions.</a:t>
              </a:r>
              <a:endParaRPr sz="1100">
                <a:solidFill>
                  <a:srgbClr val="112A1D"/>
                </a:solidFill>
                <a:latin typeface="Plus Jakarta Sans"/>
                <a:ea typeface="Plus Jakarta Sans"/>
                <a:cs typeface="Plus Jakarta Sans"/>
                <a:sym typeface="Plus Jakarta Sans"/>
              </a:endParaRPr>
            </a:p>
            <a:p>
              <a:pPr marL="457200" lvl="0" indent="-298450" algn="l" rtl="0">
                <a:spcBef>
                  <a:spcPts val="450"/>
                </a:spcBef>
                <a:spcAft>
                  <a:spcPts val="450"/>
                </a:spcAft>
                <a:buClr>
                  <a:srgbClr val="112A1D"/>
                </a:buClr>
                <a:buSzPts val="1100"/>
                <a:buFont typeface="Plus Jakarta Sans"/>
                <a:buChar char="●"/>
              </a:pPr>
              <a:r>
                <a:rPr lang="en-US" sz="1100" b="1">
                  <a:solidFill>
                    <a:srgbClr val="112A1D"/>
                  </a:solidFill>
                  <a:latin typeface="Plus Jakarta Sans"/>
                  <a:ea typeface="Plus Jakarta Sans"/>
                  <a:cs typeface="Plus Jakarta Sans"/>
                  <a:sym typeface="Plus Jakarta Sans"/>
                </a:rPr>
                <a:t>Performance:</a:t>
              </a:r>
              <a:r>
                <a:rPr lang="en-US" sz="1100">
                  <a:solidFill>
                    <a:srgbClr val="112A1D"/>
                  </a:solidFill>
                  <a:latin typeface="Plus Jakarta Sans"/>
                  <a:ea typeface="Plus Jakarta Sans"/>
                  <a:cs typeface="Plus Jakarta Sans"/>
                  <a:sym typeface="Plus Jakarta Sans"/>
                </a:rPr>
                <a:t> Demonstrates excellent classification and strong generalization across the entire dataset.</a:t>
              </a:r>
              <a:endParaRPr sz="1100">
                <a:solidFill>
                  <a:srgbClr val="112A1D"/>
                </a:solidFill>
                <a:latin typeface="Plus Jakarta Sans"/>
                <a:ea typeface="Plus Jakarta Sans"/>
                <a:cs typeface="Plus Jakarta Sans"/>
                <a:sym typeface="Plus Jakarta Sans"/>
              </a:endParaRPr>
            </a:p>
          </p:txBody>
        </p:sp>
        <p:sp>
          <p:nvSpPr>
            <p:cNvPr id="261" name="Google Shape;261;p26"/>
            <p:cNvSpPr txBox="1"/>
            <p:nvPr/>
          </p:nvSpPr>
          <p:spPr>
            <a:xfrm>
              <a:off x="762000" y="4381500"/>
              <a:ext cx="2381400" cy="1714500"/>
            </a:xfrm>
            <a:prstGeom prst="rect">
              <a:avLst/>
            </a:prstGeom>
            <a:solidFill>
              <a:srgbClr val="F4F6F3"/>
            </a:solidFill>
            <a:ln>
              <a:noFill/>
            </a:ln>
          </p:spPr>
          <p:txBody>
            <a:bodyPr spcFirstLastPara="1" wrap="square" lIns="142875" tIns="142875" rIns="142875" bIns="142875" anchor="ctr" anchorCtr="0">
              <a:noAutofit/>
            </a:bodyPr>
            <a:lstStyle/>
            <a:p>
              <a:pPr marL="0" lvl="0" indent="0" algn="l" rtl="0">
                <a:spcBef>
                  <a:spcPts val="0"/>
                </a:spcBef>
                <a:spcAft>
                  <a:spcPts val="0"/>
                </a:spcAft>
                <a:buNone/>
              </a:pPr>
              <a:r>
                <a:rPr lang="en-US" sz="1200" b="1">
                  <a:solidFill>
                    <a:srgbClr val="112A1D"/>
                  </a:solidFill>
                  <a:latin typeface="Plus Jakarta Sans"/>
                  <a:ea typeface="Plus Jakarta Sans"/>
                  <a:cs typeface="Plus Jakarta Sans"/>
                  <a:sym typeface="Plus Jakarta Sans"/>
                </a:rPr>
                <a:t>Interpretation</a:t>
              </a:r>
              <a:endParaRPr sz="1200" b="1">
                <a:solidFill>
                  <a:srgbClr val="112A1D"/>
                </a:solidFill>
                <a:latin typeface="Plus Jakarta Sans"/>
                <a:ea typeface="Plus Jakarta Sans"/>
                <a:cs typeface="Plus Jakarta Sans"/>
                <a:sym typeface="Plus Jakarta Sans"/>
              </a:endParaRPr>
            </a:p>
            <a:p>
              <a:pPr marL="0" lvl="0" indent="0" algn="l" rtl="0">
                <a:spcBef>
                  <a:spcPts val="750"/>
                </a:spcBef>
                <a:spcAft>
                  <a:spcPts val="0"/>
                </a:spcAft>
                <a:buNone/>
              </a:pPr>
              <a:r>
                <a:rPr lang="en-US" sz="1000">
                  <a:solidFill>
                    <a:srgbClr val="2C3E35"/>
                  </a:solidFill>
                  <a:latin typeface="Plus Jakarta Sans"/>
                  <a:ea typeface="Plus Jakarta Sans"/>
                  <a:cs typeface="Plus Jakarta Sans"/>
                  <a:sym typeface="Plus Jakarta Sans"/>
                </a:rPr>
                <a:t>• Dense diagonal = High accuracy</a:t>
              </a:r>
              <a:endParaRPr sz="1000">
                <a:solidFill>
                  <a:srgbClr val="2C3E35"/>
                </a:solidFill>
                <a:latin typeface="Plus Jakarta Sans"/>
                <a:ea typeface="Plus Jakarta Sans"/>
                <a:cs typeface="Plus Jakarta Sans"/>
                <a:sym typeface="Plus Jakarta Sans"/>
              </a:endParaRPr>
            </a:p>
            <a:p>
              <a:pPr marL="0" lvl="0" indent="0" algn="l" rtl="0">
                <a:spcBef>
                  <a:spcPts val="300"/>
                </a:spcBef>
                <a:spcAft>
                  <a:spcPts val="0"/>
                </a:spcAft>
                <a:buNone/>
              </a:pPr>
              <a:r>
                <a:rPr lang="en-US" sz="1000">
                  <a:solidFill>
                    <a:srgbClr val="2C3E35"/>
                  </a:solidFill>
                  <a:latin typeface="Plus Jakarta Sans"/>
                  <a:ea typeface="Plus Jakarta Sans"/>
                  <a:cs typeface="Plus Jakarta Sans"/>
                  <a:sym typeface="Plus Jakarta Sans"/>
                </a:rPr>
                <a:t>• Few off-diagonal = Low confusion</a:t>
              </a:r>
              <a:endParaRPr sz="1000">
                <a:solidFill>
                  <a:srgbClr val="2C3E35"/>
                </a:solidFill>
                <a:latin typeface="Plus Jakarta Sans"/>
                <a:ea typeface="Plus Jakarta Sans"/>
                <a:cs typeface="Plus Jakarta Sans"/>
                <a:sym typeface="Plus Jakarta Sans"/>
              </a:endParaRPr>
            </a:p>
            <a:p>
              <a:pPr marL="0" lvl="0" indent="0" algn="l" rtl="0">
                <a:spcBef>
                  <a:spcPts val="300"/>
                </a:spcBef>
                <a:spcAft>
                  <a:spcPts val="300"/>
                </a:spcAft>
                <a:buNone/>
              </a:pPr>
              <a:r>
                <a:rPr lang="en-US" sz="1000">
                  <a:solidFill>
                    <a:srgbClr val="2C3E35"/>
                  </a:solidFill>
                  <a:latin typeface="Plus Jakarta Sans"/>
                  <a:ea typeface="Plus Jakarta Sans"/>
                  <a:cs typeface="Plus Jakarta Sans"/>
                  <a:sym typeface="Plus Jakarta Sans"/>
                </a:rPr>
                <a:t>• Errors are localized botanical anomalies</a:t>
              </a:r>
              <a:endParaRPr sz="1000">
                <a:solidFill>
                  <a:srgbClr val="2C3E35"/>
                </a:solidFill>
                <a:latin typeface="Plus Jakarta Sans"/>
                <a:ea typeface="Plus Jakarta Sans"/>
                <a:cs typeface="Plus Jakarta Sans"/>
                <a:sym typeface="Plus Jakarta Sans"/>
              </a:endParaRPr>
            </a:p>
          </p:txBody>
        </p:sp>
        <p:sp>
          <p:nvSpPr>
            <p:cNvPr id="262" name="Google Shape;262;p26"/>
            <p:cNvSpPr txBox="1"/>
            <p:nvPr/>
          </p:nvSpPr>
          <p:spPr>
            <a:xfrm>
              <a:off x="3333750" y="4381500"/>
              <a:ext cx="2381400" cy="1714500"/>
            </a:xfrm>
            <a:prstGeom prst="rect">
              <a:avLst/>
            </a:prstGeom>
            <a:solidFill>
              <a:srgbClr val="112A1D"/>
            </a:solidFill>
            <a:ln>
              <a:noFill/>
            </a:ln>
          </p:spPr>
          <p:txBody>
            <a:bodyPr spcFirstLastPara="1" wrap="square" lIns="142875" tIns="142875" rIns="142875" bIns="142875" anchor="ctr" anchorCtr="0">
              <a:noAutofit/>
            </a:bodyPr>
            <a:lstStyle/>
            <a:p>
              <a:pPr marL="0" lvl="0" indent="0" algn="l" rtl="0">
                <a:spcBef>
                  <a:spcPts val="0"/>
                </a:spcBef>
                <a:spcAft>
                  <a:spcPts val="0"/>
                </a:spcAft>
                <a:buNone/>
              </a:pPr>
              <a:r>
                <a:rPr lang="en-US" sz="1200" b="1">
                  <a:solidFill>
                    <a:srgbClr val="C38B2D"/>
                  </a:solidFill>
                  <a:latin typeface="Plus Jakarta Sans"/>
                  <a:ea typeface="Plus Jakarta Sans"/>
                  <a:cs typeface="Plus Jakarta Sans"/>
                  <a:sym typeface="Plus Jakarta Sans"/>
                </a:rPr>
                <a:t>Conclusion</a:t>
              </a:r>
              <a:endParaRPr sz="1200" b="1">
                <a:solidFill>
                  <a:srgbClr val="C38B2D"/>
                </a:solidFill>
                <a:latin typeface="Plus Jakarta Sans"/>
                <a:ea typeface="Plus Jakarta Sans"/>
                <a:cs typeface="Plus Jakarta Sans"/>
                <a:sym typeface="Plus Jakarta Sans"/>
              </a:endParaRPr>
            </a:p>
            <a:p>
              <a:pPr marL="0" lvl="0" indent="0" algn="l" rtl="0">
                <a:spcBef>
                  <a:spcPts val="750"/>
                </a:spcBef>
                <a:spcAft>
                  <a:spcPts val="0"/>
                </a:spcAft>
                <a:buNone/>
              </a:pPr>
              <a:r>
                <a:rPr lang="en-US" sz="1000">
                  <a:solidFill>
                    <a:srgbClr val="FAFAF5"/>
                  </a:solidFill>
                  <a:latin typeface="Plus Jakarta Sans"/>
                  <a:ea typeface="Plus Jakarta Sans"/>
                  <a:cs typeface="Plus Jakarta Sans"/>
                  <a:sym typeface="Plus Jakarta Sans"/>
                </a:rPr>
                <a:t>MobileNetV2 achieves strong performance with only a small number of misclassifications, confirming excellent generalization to unseen flower images.</a:t>
              </a:r>
              <a:endParaRPr sz="1000">
                <a:solidFill>
                  <a:srgbClr val="FAFAF5"/>
                </a:solidFill>
                <a:latin typeface="Plus Jakarta Sans"/>
                <a:ea typeface="Plus Jakarta Sans"/>
                <a:cs typeface="Plus Jakarta Sans"/>
                <a:sym typeface="Plus Jakarta Sans"/>
              </a:endParaRPr>
            </a:p>
          </p:txBody>
        </p:sp>
      </p:grpSp>
      <p:pic>
        <p:nvPicPr>
          <p:cNvPr id="263" name="Google Shape;263;p26"/>
          <p:cNvPicPr preferRelativeResize="0"/>
          <p:nvPr/>
        </p:nvPicPr>
        <p:blipFill rotWithShape="1">
          <a:blip r:embed="rId5">
            <a:alphaModFix/>
          </a:blip>
          <a:srcRect t="3480" b="3471"/>
          <a:stretch/>
        </p:blipFill>
        <p:spPr>
          <a:xfrm>
            <a:off x="6286500" y="1714500"/>
            <a:ext cx="5143500" cy="4572000"/>
          </a:xfrm>
          <a:prstGeom prst="roundRect">
            <a:avLst>
              <a:gd name="adj" fmla="val 2500"/>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7"/>
        <p:cNvGrpSpPr/>
        <p:nvPr/>
      </p:nvGrpSpPr>
      <p:grpSpPr>
        <a:xfrm>
          <a:off x="0" y="0"/>
          <a:ext cx="0" cy="0"/>
          <a:chOff x="0" y="0"/>
          <a:chExt cx="0" cy="0"/>
        </a:xfrm>
      </p:grpSpPr>
      <p:pic>
        <p:nvPicPr>
          <p:cNvPr id="268" name="Google Shape;268;p27"/>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69" name="Google Shape;269;p27"/>
          <p:cNvSpPr txBox="1"/>
          <p:nvPr/>
        </p:nvSpPr>
        <p:spPr>
          <a:xfrm>
            <a:off x="762000" y="571500"/>
            <a:ext cx="10668000" cy="504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2850" b="1" i="0">
                <a:solidFill>
                  <a:srgbClr val="112A1D"/>
                </a:solidFill>
                <a:latin typeface="Playfair Display"/>
                <a:ea typeface="Playfair Display"/>
                <a:cs typeface="Playfair Display"/>
                <a:sym typeface="Playfair Display"/>
              </a:rPr>
              <a:t>Training Accuracy Analysis</a:t>
            </a:r>
            <a:endParaRPr sz="2850" b="1" i="0">
              <a:solidFill>
                <a:srgbClr val="112A1D"/>
              </a:solidFill>
              <a:latin typeface="Playfair Display"/>
              <a:ea typeface="Playfair Display"/>
              <a:cs typeface="Playfair Display"/>
              <a:sym typeface="Playfair Display"/>
            </a:endParaRPr>
          </a:p>
        </p:txBody>
      </p:sp>
      <p:sp>
        <p:nvSpPr>
          <p:cNvPr id="270" name="Google Shape;270;p27"/>
          <p:cNvSpPr/>
          <p:nvPr/>
        </p:nvSpPr>
        <p:spPr>
          <a:xfrm>
            <a:off x="762000" y="1171575"/>
            <a:ext cx="10668000" cy="19200"/>
          </a:xfrm>
          <a:prstGeom prst="rect">
            <a:avLst/>
          </a:prstGeom>
          <a:solidFill>
            <a:srgbClr val="E3E8E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p27"/>
          <p:cNvSpPr/>
          <p:nvPr/>
        </p:nvSpPr>
        <p:spPr>
          <a:xfrm>
            <a:off x="762000" y="1171575"/>
            <a:ext cx="1143000" cy="19200"/>
          </a:xfrm>
          <a:prstGeom prst="rect">
            <a:avLst/>
          </a:prstGeom>
          <a:solidFill>
            <a:srgbClr val="C38B2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72" name="Google Shape;272;p27"/>
          <p:cNvPicPr preferRelativeResize="0"/>
          <p:nvPr/>
        </p:nvPicPr>
        <p:blipFill rotWithShape="1">
          <a:blip r:embed="rId5">
            <a:alphaModFix/>
          </a:blip>
          <a:srcRect t="140" b="140"/>
          <a:stretch/>
        </p:blipFill>
        <p:spPr>
          <a:xfrm>
            <a:off x="762000" y="1524000"/>
            <a:ext cx="4953000" cy="2438400"/>
          </a:xfrm>
          <a:prstGeom prst="rect">
            <a:avLst/>
          </a:prstGeom>
          <a:noFill/>
          <a:ln>
            <a:noFill/>
          </a:ln>
        </p:spPr>
      </p:pic>
      <p:pic>
        <p:nvPicPr>
          <p:cNvPr id="273" name="Google Shape;273;p27"/>
          <p:cNvPicPr preferRelativeResize="0"/>
          <p:nvPr/>
        </p:nvPicPr>
        <p:blipFill rotWithShape="1">
          <a:blip r:embed="rId6">
            <a:alphaModFix/>
          </a:blip>
          <a:srcRect t="140" b="140"/>
          <a:stretch/>
        </p:blipFill>
        <p:spPr>
          <a:xfrm>
            <a:off x="762000" y="4191000"/>
            <a:ext cx="4953000" cy="2438400"/>
          </a:xfrm>
          <a:prstGeom prst="rect">
            <a:avLst/>
          </a:prstGeom>
          <a:noFill/>
          <a:ln>
            <a:noFill/>
          </a:ln>
        </p:spPr>
      </p:pic>
      <p:grpSp>
        <p:nvGrpSpPr>
          <p:cNvPr id="274" name="Google Shape;274;p27"/>
          <p:cNvGrpSpPr/>
          <p:nvPr/>
        </p:nvGrpSpPr>
        <p:grpSpPr>
          <a:xfrm>
            <a:off x="6286500" y="1714500"/>
            <a:ext cx="5143500" cy="3619500"/>
            <a:chOff x="6286500" y="1714500"/>
            <a:chExt cx="5143500" cy="3619500"/>
          </a:xfrm>
        </p:grpSpPr>
        <p:sp>
          <p:nvSpPr>
            <p:cNvPr id="275" name="Google Shape;275;p27"/>
            <p:cNvSpPr txBox="1"/>
            <p:nvPr/>
          </p:nvSpPr>
          <p:spPr>
            <a:xfrm>
              <a:off x="6286500" y="1714500"/>
              <a:ext cx="285900" cy="285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200">
                  <a:solidFill>
                    <a:srgbClr val="C38B2D"/>
                  </a:solidFill>
                  <a:latin typeface="Plus Jakarta Sans"/>
                  <a:ea typeface="Plus Jakarta Sans"/>
                  <a:cs typeface="Plus Jakarta Sans"/>
                  <a:sym typeface="Plus Jakarta Sans"/>
                </a:rPr>
                <a:t>✿</a:t>
              </a:r>
              <a:endParaRPr sz="1200">
                <a:solidFill>
                  <a:srgbClr val="C38B2D"/>
                </a:solidFill>
                <a:latin typeface="Plus Jakarta Sans"/>
                <a:ea typeface="Plus Jakarta Sans"/>
                <a:cs typeface="Plus Jakarta Sans"/>
                <a:sym typeface="Plus Jakarta Sans"/>
              </a:endParaRPr>
            </a:p>
          </p:txBody>
        </p:sp>
        <p:sp>
          <p:nvSpPr>
            <p:cNvPr id="276" name="Google Shape;276;p27"/>
            <p:cNvSpPr txBox="1"/>
            <p:nvPr/>
          </p:nvSpPr>
          <p:spPr>
            <a:xfrm>
              <a:off x="6667500" y="1714500"/>
              <a:ext cx="4762500" cy="952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400" b="1" i="0">
                  <a:solidFill>
                    <a:srgbClr val="112A1D"/>
                  </a:solidFill>
                  <a:latin typeface="Plus Jakarta Sans"/>
                  <a:ea typeface="Plus Jakarta Sans"/>
                  <a:cs typeface="Plus Jakarta Sans"/>
                  <a:sym typeface="Plus Jakarta Sans"/>
                </a:rPr>
                <a:t>Model Convergence</a:t>
              </a:r>
              <a:endParaRPr sz="1400" b="1" i="0">
                <a:solidFill>
                  <a:srgbClr val="112A1D"/>
                </a:solidFill>
                <a:latin typeface="Plus Jakarta Sans"/>
                <a:ea typeface="Plus Jakarta Sans"/>
                <a:cs typeface="Plus Jakarta Sans"/>
                <a:sym typeface="Plus Jakarta Sans"/>
              </a:endParaRPr>
            </a:p>
            <a:p>
              <a:pPr marL="0" lvl="0" indent="0" algn="l" rtl="0">
                <a:spcBef>
                  <a:spcPts val="600"/>
                </a:spcBef>
                <a:spcAft>
                  <a:spcPts val="600"/>
                </a:spcAft>
                <a:buNone/>
              </a:pPr>
              <a:r>
                <a:rPr lang="en-US" sz="1100" b="0" i="0">
                  <a:solidFill>
                    <a:srgbClr val="2C3E35"/>
                  </a:solidFill>
                  <a:latin typeface="Plus Jakarta Sans"/>
                  <a:ea typeface="Plus Jakarta Sans"/>
                  <a:cs typeface="Plus Jakarta Sans"/>
                  <a:sym typeface="Plus Jakarta Sans"/>
                </a:rPr>
                <a:t>ResNet50V2 and MobileNetV2 achieved final validation accuracies of 0.9451 and 0.9471 respectively, showing strong convergence.</a:t>
              </a:r>
              <a:endParaRPr sz="1100" b="1" i="0">
                <a:solidFill>
                  <a:srgbClr val="112A1D"/>
                </a:solidFill>
                <a:latin typeface="Plus Jakarta Sans"/>
                <a:ea typeface="Plus Jakarta Sans"/>
                <a:cs typeface="Plus Jakarta Sans"/>
                <a:sym typeface="Plus Jakarta Sans"/>
              </a:endParaRPr>
            </a:p>
          </p:txBody>
        </p:sp>
        <p:sp>
          <p:nvSpPr>
            <p:cNvPr id="277" name="Google Shape;277;p27"/>
            <p:cNvSpPr txBox="1"/>
            <p:nvPr/>
          </p:nvSpPr>
          <p:spPr>
            <a:xfrm>
              <a:off x="6286500" y="3048000"/>
              <a:ext cx="285900" cy="285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200">
                  <a:solidFill>
                    <a:srgbClr val="C38B2D"/>
                  </a:solidFill>
                  <a:latin typeface="Plus Jakarta Sans"/>
                  <a:ea typeface="Plus Jakarta Sans"/>
                  <a:cs typeface="Plus Jakarta Sans"/>
                  <a:sym typeface="Plus Jakarta Sans"/>
                </a:rPr>
                <a:t>✿</a:t>
              </a:r>
              <a:endParaRPr sz="1200">
                <a:solidFill>
                  <a:srgbClr val="C38B2D"/>
                </a:solidFill>
                <a:latin typeface="Plus Jakarta Sans"/>
                <a:ea typeface="Plus Jakarta Sans"/>
                <a:cs typeface="Plus Jakarta Sans"/>
                <a:sym typeface="Plus Jakarta Sans"/>
              </a:endParaRPr>
            </a:p>
          </p:txBody>
        </p:sp>
        <p:sp>
          <p:nvSpPr>
            <p:cNvPr id="278" name="Google Shape;278;p27"/>
            <p:cNvSpPr txBox="1"/>
            <p:nvPr/>
          </p:nvSpPr>
          <p:spPr>
            <a:xfrm>
              <a:off x="6667500" y="3048000"/>
              <a:ext cx="4762500" cy="952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400" b="1" i="0">
                  <a:solidFill>
                    <a:srgbClr val="112A1D"/>
                  </a:solidFill>
                  <a:latin typeface="Plus Jakarta Sans"/>
                  <a:ea typeface="Plus Jakarta Sans"/>
                  <a:cs typeface="Plus Jakarta Sans"/>
                  <a:sym typeface="Plus Jakarta Sans"/>
                </a:rPr>
                <a:t>Fine-Tuning Impact</a:t>
              </a:r>
              <a:endParaRPr sz="1400" b="1" i="0">
                <a:solidFill>
                  <a:srgbClr val="112A1D"/>
                </a:solidFill>
                <a:latin typeface="Plus Jakarta Sans"/>
                <a:ea typeface="Plus Jakarta Sans"/>
                <a:cs typeface="Plus Jakarta Sans"/>
                <a:sym typeface="Plus Jakarta Sans"/>
              </a:endParaRPr>
            </a:p>
            <a:p>
              <a:pPr marL="0" lvl="0" indent="0" algn="l" rtl="0">
                <a:spcBef>
                  <a:spcPts val="600"/>
                </a:spcBef>
                <a:spcAft>
                  <a:spcPts val="600"/>
                </a:spcAft>
                <a:buNone/>
              </a:pPr>
              <a:r>
                <a:rPr lang="en-US" sz="1100" b="0" i="0">
                  <a:solidFill>
                    <a:srgbClr val="2C3E35"/>
                  </a:solidFill>
                  <a:latin typeface="Plus Jakarta Sans"/>
                  <a:ea typeface="Plus Jakarta Sans"/>
                  <a:cs typeface="Plus Jakarta Sans"/>
                  <a:sym typeface="Plus Jakarta Sans"/>
                </a:rPr>
                <a:t>Transitioning to Phase 2 (fine-tuning) at Epoch 21 significantly improved metrics, with MobileNetV2 reaching 0.9980 training accuracy.</a:t>
              </a:r>
              <a:endParaRPr sz="1100" b="1" i="0">
                <a:solidFill>
                  <a:srgbClr val="112A1D"/>
                </a:solidFill>
                <a:latin typeface="Plus Jakarta Sans"/>
                <a:ea typeface="Plus Jakarta Sans"/>
                <a:cs typeface="Plus Jakarta Sans"/>
                <a:sym typeface="Plus Jakarta Sans"/>
              </a:endParaRPr>
            </a:p>
          </p:txBody>
        </p:sp>
        <p:sp>
          <p:nvSpPr>
            <p:cNvPr id="279" name="Google Shape;279;p27"/>
            <p:cNvSpPr txBox="1"/>
            <p:nvPr/>
          </p:nvSpPr>
          <p:spPr>
            <a:xfrm>
              <a:off x="6286500" y="4381500"/>
              <a:ext cx="285900" cy="285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200">
                  <a:solidFill>
                    <a:srgbClr val="C38B2D"/>
                  </a:solidFill>
                  <a:latin typeface="Plus Jakarta Sans"/>
                  <a:ea typeface="Plus Jakarta Sans"/>
                  <a:cs typeface="Plus Jakarta Sans"/>
                  <a:sym typeface="Plus Jakarta Sans"/>
                </a:rPr>
                <a:t>✿</a:t>
              </a:r>
              <a:endParaRPr sz="1200">
                <a:solidFill>
                  <a:srgbClr val="C38B2D"/>
                </a:solidFill>
                <a:latin typeface="Plus Jakarta Sans"/>
                <a:ea typeface="Plus Jakarta Sans"/>
                <a:cs typeface="Plus Jakarta Sans"/>
                <a:sym typeface="Plus Jakarta Sans"/>
              </a:endParaRPr>
            </a:p>
          </p:txBody>
        </p:sp>
        <p:sp>
          <p:nvSpPr>
            <p:cNvPr id="280" name="Google Shape;280;p27"/>
            <p:cNvSpPr txBox="1"/>
            <p:nvPr/>
          </p:nvSpPr>
          <p:spPr>
            <a:xfrm>
              <a:off x="6667500" y="4381500"/>
              <a:ext cx="4762500" cy="952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400" b="1" i="0">
                  <a:solidFill>
                    <a:srgbClr val="112A1D"/>
                  </a:solidFill>
                  <a:latin typeface="Plus Jakarta Sans"/>
                  <a:ea typeface="Plus Jakarta Sans"/>
                  <a:cs typeface="Plus Jakarta Sans"/>
                  <a:sym typeface="Plus Jakarta Sans"/>
                </a:rPr>
                <a:t>Generalization Stability</a:t>
              </a:r>
              <a:endParaRPr sz="1400" b="1" i="0">
                <a:solidFill>
                  <a:srgbClr val="112A1D"/>
                </a:solidFill>
                <a:latin typeface="Plus Jakarta Sans"/>
                <a:ea typeface="Plus Jakarta Sans"/>
                <a:cs typeface="Plus Jakarta Sans"/>
                <a:sym typeface="Plus Jakarta Sans"/>
              </a:endParaRPr>
            </a:p>
            <a:p>
              <a:pPr marL="0" lvl="0" indent="0" algn="l" rtl="0">
                <a:spcBef>
                  <a:spcPts val="600"/>
                </a:spcBef>
                <a:spcAft>
                  <a:spcPts val="600"/>
                </a:spcAft>
                <a:buNone/>
              </a:pPr>
              <a:r>
                <a:rPr lang="en-US" sz="1100" b="0" i="0">
                  <a:solidFill>
                    <a:srgbClr val="2C3E35"/>
                  </a:solidFill>
                  <a:latin typeface="Plus Jakarta Sans"/>
                  <a:ea typeface="Plus Jakarta Sans"/>
                  <a:cs typeface="Plus Jakarta Sans"/>
                  <a:sym typeface="Plus Jakarta Sans"/>
                </a:rPr>
                <a:t>The models demonstrate high stability; MobileNetV2 emerged as the best model with a Test Set accuracy of 0.9422.</a:t>
              </a:r>
              <a:endParaRPr sz="1100" b="1" i="0">
                <a:solidFill>
                  <a:srgbClr val="112A1D"/>
                </a:solidFill>
                <a:latin typeface="Plus Jakarta Sans"/>
                <a:ea typeface="Plus Jakarta Sans"/>
                <a:cs typeface="Plus Jakarta Sans"/>
                <a:sym typeface="Plus Jakarta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2A1D"/>
        </a:solidFill>
        <a:effectLst/>
      </p:bgPr>
    </p:bg>
    <p:spTree>
      <p:nvGrpSpPr>
        <p:cNvPr id="1" name="Shape 284"/>
        <p:cNvGrpSpPr/>
        <p:nvPr/>
      </p:nvGrpSpPr>
      <p:grpSpPr>
        <a:xfrm>
          <a:off x="0" y="0"/>
          <a:ext cx="0" cy="0"/>
          <a:chOff x="0" y="0"/>
          <a:chExt cx="0" cy="0"/>
        </a:xfrm>
      </p:grpSpPr>
      <p:pic>
        <p:nvPicPr>
          <p:cNvPr id="285" name="Google Shape;285;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6" name="Google Shape;286;p28" descr="image.png"/>
          <p:cNvPicPr preferRelativeResize="0"/>
          <p:nvPr/>
        </p:nvPicPr>
        <p:blipFill rotWithShape="1">
          <a:blip r:embed="rId4">
            <a:alphaModFix/>
          </a:blip>
          <a:srcRect/>
          <a:stretch/>
        </p:blipFill>
        <p:spPr>
          <a:xfrm>
            <a:off x="4414837" y="3914775"/>
            <a:ext cx="3362325" cy="752475"/>
          </a:xfrm>
          <a:prstGeom prst="rect">
            <a:avLst/>
          </a:prstGeom>
          <a:noFill/>
          <a:ln>
            <a:noFill/>
          </a:ln>
        </p:spPr>
      </p:pic>
      <p:sp>
        <p:nvSpPr>
          <p:cNvPr id="287" name="Google Shape;287;p28"/>
          <p:cNvSpPr txBox="1"/>
          <p:nvPr/>
        </p:nvSpPr>
        <p:spPr>
          <a:xfrm>
            <a:off x="2530554" y="2190750"/>
            <a:ext cx="7130891" cy="8096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112A1D"/>
                </a:solidFill>
                <a:latin typeface="Playfair Display"/>
                <a:ea typeface="Playfair Display"/>
                <a:cs typeface="Playfair Display"/>
                <a:sym typeface="Playfair Display"/>
              </a:rPr>
              <a:t>Questions &amp; Discussion</a:t>
            </a:r>
            <a:endParaRPr/>
          </a:p>
        </p:txBody>
      </p:sp>
      <p:sp>
        <p:nvSpPr>
          <p:cNvPr id="288" name="Google Shape;288;p28"/>
          <p:cNvSpPr txBox="1"/>
          <p:nvPr/>
        </p:nvSpPr>
        <p:spPr>
          <a:xfrm>
            <a:off x="2700337" y="3190875"/>
            <a:ext cx="6791325"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C38B2D"/>
                </a:solidFill>
                <a:latin typeface="Plus Jakarta Sans"/>
                <a:ea typeface="Plus Jakarta Sans"/>
                <a:cs typeface="Plus Jakarta Sans"/>
                <a:sym typeface="Plus Jakarta Sans"/>
              </a:rPr>
              <a:t>OXFORD FLOWERS 102 CLASSIFICATION</a:t>
            </a:r>
            <a:endParaRPr/>
          </a:p>
        </p:txBody>
      </p:sp>
      <p:sp>
        <p:nvSpPr>
          <p:cNvPr id="289" name="Google Shape;289;p28"/>
          <p:cNvSpPr txBox="1"/>
          <p:nvPr/>
        </p:nvSpPr>
        <p:spPr>
          <a:xfrm>
            <a:off x="4414837" y="4162425"/>
            <a:ext cx="3362325"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Presenters: Ahmad Jallab · Majdi Jaser</a:t>
            </a:r>
            <a:endParaRPr/>
          </a:p>
        </p:txBody>
      </p:sp>
      <p:sp>
        <p:nvSpPr>
          <p:cNvPr id="290" name="Google Shape;290;p28"/>
          <p:cNvSpPr txBox="1"/>
          <p:nvPr/>
        </p:nvSpPr>
        <p:spPr>
          <a:xfrm>
            <a:off x="4414837" y="4438650"/>
            <a:ext cx="3362325" cy="2286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Computer Vision Course Project • Spring 2026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AF5"/>
        </a:solidFill>
        <a:effectLst/>
      </p:bgPr>
    </p:bg>
    <p:spTree>
      <p:nvGrpSpPr>
        <p:cNvPr id="1" name="Shape 294"/>
        <p:cNvGrpSpPr/>
        <p:nvPr/>
      </p:nvGrpSpPr>
      <p:grpSpPr>
        <a:xfrm>
          <a:off x="0" y="0"/>
          <a:ext cx="0" cy="0"/>
          <a:chOff x="0" y="0"/>
          <a:chExt cx="0" cy="0"/>
        </a:xfrm>
      </p:grpSpPr>
      <p:pic>
        <p:nvPicPr>
          <p:cNvPr id="295" name="Google Shape;295;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6" name="Google Shape;296;p29"/>
          <p:cNvSpPr/>
          <p:nvPr/>
        </p:nvSpPr>
        <p:spPr>
          <a:xfrm>
            <a:off x="2562225" y="2728912"/>
            <a:ext cx="7067550" cy="7715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9"/>
          <p:cNvSpPr/>
          <p:nvPr/>
        </p:nvSpPr>
        <p:spPr>
          <a:xfrm>
            <a:off x="2562225" y="3500437"/>
            <a:ext cx="7067550" cy="7715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8" name="Google Shape;298;p29"/>
          <p:cNvSpPr/>
          <p:nvPr/>
        </p:nvSpPr>
        <p:spPr>
          <a:xfrm>
            <a:off x="2562225" y="3490912"/>
            <a:ext cx="70675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9" name="Google Shape;299;p29"/>
          <p:cNvSpPr/>
          <p:nvPr/>
        </p:nvSpPr>
        <p:spPr>
          <a:xfrm>
            <a:off x="2562225" y="3490912"/>
            <a:ext cx="70675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0" name="Google Shape;300;p29"/>
          <p:cNvSpPr/>
          <p:nvPr/>
        </p:nvSpPr>
        <p:spPr>
          <a:xfrm>
            <a:off x="2562225" y="4262437"/>
            <a:ext cx="70675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1" name="Google Shape;301;p29"/>
          <p:cNvSpPr/>
          <p:nvPr/>
        </p:nvSpPr>
        <p:spPr>
          <a:xfrm>
            <a:off x="2562225" y="4262437"/>
            <a:ext cx="70675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2" name="Google Shape;302;p29" descr="image.png"/>
          <p:cNvPicPr preferRelativeResize="0"/>
          <p:nvPr/>
        </p:nvPicPr>
        <p:blipFill rotWithShape="1">
          <a:blip r:embed="rId4">
            <a:alphaModFix/>
          </a:blip>
          <a:srcRect/>
          <a:stretch/>
        </p:blipFill>
        <p:spPr>
          <a:xfrm>
            <a:off x="2562225" y="2871787"/>
            <a:ext cx="857250" cy="476250"/>
          </a:xfrm>
          <a:prstGeom prst="rect">
            <a:avLst/>
          </a:prstGeom>
          <a:noFill/>
          <a:ln>
            <a:noFill/>
          </a:ln>
        </p:spPr>
      </p:pic>
      <p:sp>
        <p:nvSpPr>
          <p:cNvPr id="303" name="Google Shape;303;p29"/>
          <p:cNvSpPr txBox="1"/>
          <p:nvPr/>
        </p:nvSpPr>
        <p:spPr>
          <a:xfrm>
            <a:off x="3657600" y="2878931"/>
            <a:ext cx="5972175" cy="185737"/>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2C3E35"/>
                </a:solidFill>
                <a:latin typeface="Plus Jakarta Sans"/>
                <a:ea typeface="Plus Jakarta Sans"/>
                <a:cs typeface="Plus Jakarta Sans"/>
                <a:sym typeface="Plus Jakarta Sans"/>
              </a:rPr>
              <a:t>https://storage.googleapis.com/tfds-data/visualization/fig/oxford_flowers102-2.1.1.png</a:t>
            </a:r>
            <a:endParaRPr/>
          </a:p>
        </p:txBody>
      </p:sp>
      <p:sp>
        <p:nvSpPr>
          <p:cNvPr id="304" name="Google Shape;304;p29"/>
          <p:cNvSpPr txBox="1"/>
          <p:nvPr/>
        </p:nvSpPr>
        <p:spPr>
          <a:xfrm>
            <a:off x="3657600" y="3112293"/>
            <a:ext cx="59721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www.tensorflow.org</a:t>
            </a:r>
            <a:endParaRPr/>
          </a:p>
        </p:txBody>
      </p:sp>
      <p:pic>
        <p:nvPicPr>
          <p:cNvPr id="305" name="Google Shape;305;p29" descr="image.png"/>
          <p:cNvPicPr preferRelativeResize="0"/>
          <p:nvPr/>
        </p:nvPicPr>
        <p:blipFill rotWithShape="1">
          <a:blip r:embed="rId5">
            <a:alphaModFix/>
          </a:blip>
          <a:srcRect/>
          <a:stretch/>
        </p:blipFill>
        <p:spPr>
          <a:xfrm>
            <a:off x="2562225" y="3643312"/>
            <a:ext cx="857250" cy="476250"/>
          </a:xfrm>
          <a:prstGeom prst="rect">
            <a:avLst/>
          </a:prstGeom>
          <a:noFill/>
          <a:ln>
            <a:noFill/>
          </a:ln>
        </p:spPr>
      </p:pic>
      <p:sp>
        <p:nvSpPr>
          <p:cNvPr id="306" name="Google Shape;306;p29"/>
          <p:cNvSpPr txBox="1"/>
          <p:nvPr/>
        </p:nvSpPr>
        <p:spPr>
          <a:xfrm>
            <a:off x="3657600" y="3650456"/>
            <a:ext cx="5972175" cy="185737"/>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2C3E35"/>
                </a:solidFill>
                <a:latin typeface="Plus Jakarta Sans"/>
                <a:ea typeface="Plus Jakarta Sans"/>
                <a:cs typeface="Plus Jakarta Sans"/>
                <a:sym typeface="Plus Jakarta Sans"/>
              </a:rPr>
              <a:t>https://miro.medium.com/v2/resize:fit:1400/0*LeK_gmCf3DfO3gj_.jpeg</a:t>
            </a:r>
            <a:endParaRPr/>
          </a:p>
        </p:txBody>
      </p:sp>
      <p:sp>
        <p:nvSpPr>
          <p:cNvPr id="307" name="Google Shape;307;p29"/>
          <p:cNvSpPr txBox="1"/>
          <p:nvPr/>
        </p:nvSpPr>
        <p:spPr>
          <a:xfrm>
            <a:off x="3657600" y="3883818"/>
            <a:ext cx="59721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medium.com</a:t>
            </a:r>
            <a:endParaRPr/>
          </a:p>
        </p:txBody>
      </p:sp>
      <p:pic>
        <p:nvPicPr>
          <p:cNvPr id="308" name="Google Shape;308;p29" descr="image.png"/>
          <p:cNvPicPr preferRelativeResize="0"/>
          <p:nvPr/>
        </p:nvPicPr>
        <p:blipFill rotWithShape="1">
          <a:blip r:embed="rId6">
            <a:alphaModFix/>
          </a:blip>
          <a:srcRect/>
          <a:stretch/>
        </p:blipFill>
        <p:spPr>
          <a:xfrm>
            <a:off x="2562225" y="4414837"/>
            <a:ext cx="857250" cy="476250"/>
          </a:xfrm>
          <a:prstGeom prst="rect">
            <a:avLst/>
          </a:prstGeom>
          <a:noFill/>
          <a:ln>
            <a:noFill/>
          </a:ln>
        </p:spPr>
      </p:pic>
      <p:sp>
        <p:nvSpPr>
          <p:cNvPr id="309" name="Google Shape;309;p29"/>
          <p:cNvSpPr txBox="1"/>
          <p:nvPr/>
        </p:nvSpPr>
        <p:spPr>
          <a:xfrm>
            <a:off x="3657600" y="4421981"/>
            <a:ext cx="5972175" cy="185737"/>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2C3E35"/>
                </a:solidFill>
                <a:latin typeface="Plus Jakarta Sans"/>
                <a:ea typeface="Plus Jakarta Sans"/>
                <a:cs typeface="Plus Jakarta Sans"/>
                <a:sym typeface="Plus Jakarta Sans"/>
              </a:rPr>
              <a:t>https://towardsdatascience.com/wp-content/uploads/2024/09/1qARgbCtsUlQwtk24bPecEg.png</a:t>
            </a:r>
            <a:endParaRPr/>
          </a:p>
        </p:txBody>
      </p:sp>
      <p:sp>
        <p:nvSpPr>
          <p:cNvPr id="310" name="Google Shape;310;p29"/>
          <p:cNvSpPr txBox="1"/>
          <p:nvPr/>
        </p:nvSpPr>
        <p:spPr>
          <a:xfrm>
            <a:off x="3657600" y="4655343"/>
            <a:ext cx="59721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2C3E35"/>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towardsdatascience.com</a:t>
            </a:r>
            <a:endParaRPr/>
          </a:p>
        </p:txBody>
      </p:sp>
      <p:sp>
        <p:nvSpPr>
          <p:cNvPr id="311" name="Google Shape;311;p29"/>
          <p:cNvSpPr txBox="1"/>
          <p:nvPr/>
        </p:nvSpPr>
        <p:spPr>
          <a:xfrm>
            <a:off x="762000" y="571500"/>
            <a:ext cx="112014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112A1D"/>
                </a:solidFill>
                <a:latin typeface="Playfair Display"/>
                <a:ea typeface="Playfair Display"/>
                <a:cs typeface="Playfair Display"/>
                <a:sym typeface="Playfair Display"/>
              </a:rPr>
              <a:t>Image Sources</a:t>
            </a:r>
            <a:endParaRPr/>
          </a:p>
        </p:txBody>
      </p:sp>
      <p:sp>
        <p:nvSpPr>
          <p:cNvPr id="312" name="Google Shape;312;p29"/>
          <p:cNvSpPr/>
          <p:nvPr/>
        </p:nvSpPr>
        <p:spPr>
          <a:xfrm>
            <a:off x="762000" y="1171575"/>
            <a:ext cx="10668000" cy="19050"/>
          </a:xfrm>
          <a:prstGeom prst="rect">
            <a:avLst/>
          </a:prstGeom>
          <a:solidFill>
            <a:srgbClr val="E3E8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29"/>
          <p:cNvSpPr/>
          <p:nvPr/>
        </p:nvSpPr>
        <p:spPr>
          <a:xfrm>
            <a:off x="5524500" y="871537"/>
            <a:ext cx="1143000" cy="19050"/>
          </a:xfrm>
          <a:prstGeom prst="rect">
            <a:avLst/>
          </a:prstGeom>
          <a:solidFill>
            <a:srgbClr val="C38B2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A5F82BE-A1A3-4BF5-9711-1EB53D44D1B3}">
  <we:reference id="WA200010001" version="1.0.0.1" store="Omex" storeType="OMEX"/>
  <we:alternateReferences>
    <we:reference id="WA200010001" version="1.0.0.1" store="WA200010001" storeType="OMEX"/>
  </we:alternateReferences>
  <we:properties>
    <we:property name="claude.fileId" value="&quot;a6449df2-b73f-4a84-a859-432a5366a40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1073</Words>
  <Application>Microsoft Office PowerPoint</Application>
  <PresentationFormat>Widescreen</PresentationFormat>
  <Paragraphs>133</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Plus Jakarta Sans SemiBold</vt:lpstr>
      <vt:lpstr>Plus Jakarta Sans Medium</vt:lpstr>
      <vt:lpstr>Arial</vt:lpstr>
      <vt:lpstr>Plus Jakarta Sans</vt:lpstr>
      <vt:lpstr>Playfair Display</vt:lpstr>
      <vt:lpstr>Playfair Display SemiBold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ahmad jamal jallab</cp:lastModifiedBy>
  <cp:revision>1</cp:revision>
  <dcterms:modified xsi:type="dcterms:W3CDTF">2026-06-03T07:14:18Z</dcterms:modified>
</cp:coreProperties>
</file>